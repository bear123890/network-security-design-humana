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9" r:id="rId4"/>
  </p:sldMasterIdLst>
  <p:notesMasterIdLst>
    <p:notesMasterId r:id="rId19"/>
  </p:notesMasterIdLst>
  <p:sldIdLst>
    <p:sldId id="256" r:id="rId5"/>
    <p:sldId id="265" r:id="rId6"/>
    <p:sldId id="257" r:id="rId7"/>
    <p:sldId id="258" r:id="rId8"/>
    <p:sldId id="261" r:id="rId9"/>
    <p:sldId id="259" r:id="rId10"/>
    <p:sldId id="263" r:id="rId11"/>
    <p:sldId id="262" r:id="rId12"/>
    <p:sldId id="264" r:id="rId13"/>
    <p:sldId id="271" r:id="rId14"/>
    <p:sldId id="270" r:id="rId15"/>
    <p:sldId id="273" r:id="rId16"/>
    <p:sldId id="272" r:id="rId17"/>
    <p:sldId id="26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2892A-2453-4E78-A1DA-948102FE8B7B}" type="datetimeFigureOut">
              <a:t>11/10/2024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A37649-A3F2-4F4D-AE5F-8EAF8EB57E02}" type="slidenum">
              <a:t>‹#›</a:t>
            </a:fld>
            <a:endParaRPr lang="en-US"/>
          </a:p>
        </p:txBody>
      </p:sp>
    </p:spTree>
    <p:extLst>
      <p:ext uri="{BB962C8B-B14F-4D97-AF65-F5344CB8AC3E}">
        <p14:creationId xmlns:p14="http://schemas.microsoft.com/office/powerpoint/2010/main" val="1993811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This is the agenda that must be followed.</a:t>
            </a:r>
          </a:p>
        </p:txBody>
      </p:sp>
      <p:sp>
        <p:nvSpPr>
          <p:cNvPr id="4" name="Slide Number Placeholder 3"/>
          <p:cNvSpPr>
            <a:spLocks noGrp="1"/>
          </p:cNvSpPr>
          <p:nvPr>
            <p:ph type="sldNum" sz="quarter" idx="5"/>
          </p:nvPr>
        </p:nvSpPr>
        <p:spPr/>
        <p:txBody>
          <a:bodyPr/>
          <a:lstStyle/>
          <a:p>
            <a:fld id="{3DA37649-A3F2-4F4D-AE5F-8EAF8EB57E02}" type="slidenum">
              <a:rPr lang="en-US"/>
              <a:t>2</a:t>
            </a:fld>
            <a:endParaRPr lang="en-US"/>
          </a:p>
        </p:txBody>
      </p:sp>
    </p:spTree>
    <p:extLst>
      <p:ext uri="{BB962C8B-B14F-4D97-AF65-F5344CB8AC3E}">
        <p14:creationId xmlns:p14="http://schemas.microsoft.com/office/powerpoint/2010/main" val="3179456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diagram shows branch locations across the nation over a WAN network.  This network forms a mesh.  The star symbols show branches of Humana across the nation.</a:t>
            </a:r>
          </a:p>
        </p:txBody>
      </p:sp>
      <p:sp>
        <p:nvSpPr>
          <p:cNvPr id="4" name="Slide Number Placeholder 3"/>
          <p:cNvSpPr>
            <a:spLocks noGrp="1"/>
          </p:cNvSpPr>
          <p:nvPr>
            <p:ph type="sldNum" sz="quarter" idx="5"/>
          </p:nvPr>
        </p:nvSpPr>
        <p:spPr/>
        <p:txBody>
          <a:bodyPr/>
          <a:lstStyle/>
          <a:p>
            <a:fld id="{3DA37649-A3F2-4F4D-AE5F-8EAF8EB57E02}" type="slidenum">
              <a:t>5</a:t>
            </a:fld>
            <a:endParaRPr lang="en-US"/>
          </a:p>
        </p:txBody>
      </p:sp>
    </p:spTree>
    <p:extLst>
      <p:ext uri="{BB962C8B-B14F-4D97-AF65-F5344CB8AC3E}">
        <p14:creationId xmlns:p14="http://schemas.microsoft.com/office/powerpoint/2010/main" val="3564634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Each Branch has a LAN.  The LAN is apart of a domain that uses Active Directory services.</a:t>
            </a:r>
            <a:endParaRPr lang="en-US"/>
          </a:p>
        </p:txBody>
      </p:sp>
      <p:sp>
        <p:nvSpPr>
          <p:cNvPr id="4" name="Slide Number Placeholder 3"/>
          <p:cNvSpPr>
            <a:spLocks noGrp="1"/>
          </p:cNvSpPr>
          <p:nvPr>
            <p:ph type="sldNum" sz="quarter" idx="5"/>
          </p:nvPr>
        </p:nvSpPr>
        <p:spPr/>
        <p:txBody>
          <a:bodyPr/>
          <a:lstStyle/>
          <a:p>
            <a:fld id="{3DA37649-A3F2-4F4D-AE5F-8EAF8EB57E02}" type="slidenum">
              <a:t>6</a:t>
            </a:fld>
            <a:endParaRPr lang="en-US"/>
          </a:p>
        </p:txBody>
      </p:sp>
    </p:spTree>
    <p:extLst>
      <p:ext uri="{BB962C8B-B14F-4D97-AF65-F5344CB8AC3E}">
        <p14:creationId xmlns:p14="http://schemas.microsoft.com/office/powerpoint/2010/main" val="1370572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These are the laws, policies, and standards that an industry providing insurance and healthcare must follow to remain in compliance with federal law and best practices.</a:t>
            </a:r>
          </a:p>
        </p:txBody>
      </p:sp>
      <p:sp>
        <p:nvSpPr>
          <p:cNvPr id="4" name="Slide Number Placeholder 3"/>
          <p:cNvSpPr>
            <a:spLocks noGrp="1"/>
          </p:cNvSpPr>
          <p:nvPr>
            <p:ph type="sldNum" sz="quarter" idx="5"/>
          </p:nvPr>
        </p:nvSpPr>
        <p:spPr/>
        <p:txBody>
          <a:bodyPr/>
          <a:lstStyle/>
          <a:p>
            <a:fld id="{3DA37649-A3F2-4F4D-AE5F-8EAF8EB57E02}" type="slidenum">
              <a:rPr lang="en-US"/>
              <a:t>7</a:t>
            </a:fld>
            <a:endParaRPr lang="en-US"/>
          </a:p>
        </p:txBody>
      </p:sp>
    </p:spTree>
    <p:extLst>
      <p:ext uri="{BB962C8B-B14F-4D97-AF65-F5344CB8AC3E}">
        <p14:creationId xmlns:p14="http://schemas.microsoft.com/office/powerpoint/2010/main" val="658774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table shows a breakdown of NIST control families and our team's responsibilities with each category and subcategory.</a:t>
            </a:r>
          </a:p>
        </p:txBody>
      </p:sp>
      <p:sp>
        <p:nvSpPr>
          <p:cNvPr id="4" name="Slide Number Placeholder 3"/>
          <p:cNvSpPr>
            <a:spLocks noGrp="1"/>
          </p:cNvSpPr>
          <p:nvPr>
            <p:ph type="sldNum" sz="quarter" idx="5"/>
          </p:nvPr>
        </p:nvSpPr>
        <p:spPr/>
        <p:txBody>
          <a:bodyPr/>
          <a:lstStyle/>
          <a:p>
            <a:fld id="{3DA37649-A3F2-4F4D-AE5F-8EAF8EB57E02}" type="slidenum">
              <a:t>8</a:t>
            </a:fld>
            <a:endParaRPr lang="en-US"/>
          </a:p>
        </p:txBody>
      </p:sp>
    </p:spTree>
    <p:extLst>
      <p:ext uri="{BB962C8B-B14F-4D97-AF65-F5344CB8AC3E}">
        <p14:creationId xmlns:p14="http://schemas.microsoft.com/office/powerpoint/2010/main" val="3598845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These security controls are used as a framework to determine actions needed to security systems.</a:t>
            </a:r>
          </a:p>
        </p:txBody>
      </p:sp>
      <p:sp>
        <p:nvSpPr>
          <p:cNvPr id="4" name="Slide Number Placeholder 3"/>
          <p:cNvSpPr>
            <a:spLocks noGrp="1"/>
          </p:cNvSpPr>
          <p:nvPr>
            <p:ph type="sldNum" sz="quarter" idx="5"/>
          </p:nvPr>
        </p:nvSpPr>
        <p:spPr/>
        <p:txBody>
          <a:bodyPr/>
          <a:lstStyle/>
          <a:p>
            <a:fld id="{3DA37649-A3F2-4F4D-AE5F-8EAF8EB57E02}" type="slidenum">
              <a:rPr lang="en-US"/>
              <a:t>9</a:t>
            </a:fld>
            <a:endParaRPr lang="en-US"/>
          </a:p>
        </p:txBody>
      </p:sp>
    </p:spTree>
    <p:extLst>
      <p:ext uri="{BB962C8B-B14F-4D97-AF65-F5344CB8AC3E}">
        <p14:creationId xmlns:p14="http://schemas.microsoft.com/office/powerpoint/2010/main" val="2577928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Many types of threats may affect networks.  This table shows the those threats, examples thereof, mitigation tactics and the control families those mitigations are applicable too.</a:t>
            </a:r>
          </a:p>
        </p:txBody>
      </p:sp>
      <p:sp>
        <p:nvSpPr>
          <p:cNvPr id="4" name="Slide Number Placeholder 3"/>
          <p:cNvSpPr>
            <a:spLocks noGrp="1"/>
          </p:cNvSpPr>
          <p:nvPr>
            <p:ph type="sldNum" sz="quarter" idx="5"/>
          </p:nvPr>
        </p:nvSpPr>
        <p:spPr/>
        <p:txBody>
          <a:bodyPr/>
          <a:lstStyle/>
          <a:p>
            <a:fld id="{3DA37649-A3F2-4F4D-AE5F-8EAF8EB57E02}" type="slidenum">
              <a:rPr lang="en-US"/>
              <a:t>10</a:t>
            </a:fld>
            <a:endParaRPr lang="en-US"/>
          </a:p>
        </p:txBody>
      </p:sp>
    </p:spTree>
    <p:extLst>
      <p:ext uri="{BB962C8B-B14F-4D97-AF65-F5344CB8AC3E}">
        <p14:creationId xmlns:p14="http://schemas.microsoft.com/office/powerpoint/2010/main" val="3051234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Storage functional area in cloud compu</a:t>
            </a:r>
          </a:p>
        </p:txBody>
      </p:sp>
      <p:sp>
        <p:nvSpPr>
          <p:cNvPr id="4" name="Slide Number Placeholder 3"/>
          <p:cNvSpPr>
            <a:spLocks noGrp="1"/>
          </p:cNvSpPr>
          <p:nvPr>
            <p:ph type="sldNum" sz="quarter" idx="5"/>
          </p:nvPr>
        </p:nvSpPr>
        <p:spPr/>
        <p:txBody>
          <a:bodyPr/>
          <a:lstStyle/>
          <a:p>
            <a:fld id="{3DA37649-A3F2-4F4D-AE5F-8EAF8EB57E02}" type="slidenum">
              <a:rPr lang="en-US"/>
              <a:t>11</a:t>
            </a:fld>
            <a:endParaRPr lang="en-US"/>
          </a:p>
        </p:txBody>
      </p:sp>
    </p:spTree>
    <p:extLst>
      <p:ext uri="{BB962C8B-B14F-4D97-AF65-F5344CB8AC3E}">
        <p14:creationId xmlns:p14="http://schemas.microsoft.com/office/powerpoint/2010/main" val="3443726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183731144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36673883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341107735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FE9C4-FFA3-4560-99F7-C9B95C679C41}" type="datetimeFigureOut">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26425411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5FE9C4-FFA3-4560-99F7-C9B95C679C41}" type="datetimeFigureOut">
              <a:rPr lang="en-US" smtClean="0"/>
              <a:t>11/10/2024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104508407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9C5FE9C4-FFA3-4560-99F7-C9B95C679C41}" type="datetimeFigureOut">
              <a:rPr lang="en-US" smtClean="0"/>
              <a:t>11/10/2024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349265821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5FE9C4-FFA3-4560-99F7-C9B95C679C41}" type="datetimeFigureOut">
              <a:rPr lang="en-US" smtClean="0"/>
              <a:t>11/10/2024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315217610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5FE9C4-FFA3-4560-99F7-C9B95C679C41}" type="datetimeFigureOut">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359045783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9E8B95-D1A7-41C3-AE42-803D7923C3C7}" type="slidenum">
              <a:rPr lang="en-US" smtClean="0"/>
              <a:t>‹#›</a:t>
            </a:fld>
            <a:endParaRPr lang="en-US"/>
          </a:p>
        </p:txBody>
      </p:sp>
      <p:sp>
        <p:nvSpPr>
          <p:cNvPr id="5" name="Date Placeholder 4"/>
          <p:cNvSpPr>
            <a:spLocks noGrp="1"/>
          </p:cNvSpPr>
          <p:nvPr>
            <p:ph type="dt" sz="half" idx="10"/>
          </p:nvPr>
        </p:nvSpPr>
        <p:spPr/>
        <p:txBody>
          <a:bodyPr/>
          <a:lstStyle/>
          <a:p>
            <a:fld id="{9C5FE9C4-FFA3-4560-99F7-C9B95C679C41}" type="datetimeFigureOut">
              <a:rPr lang="en-US" smtClean="0"/>
              <a:t>11/10/2024</a:t>
            </a:fld>
            <a:endParaRPr lang="en-US"/>
          </a:p>
        </p:txBody>
      </p:sp>
    </p:spTree>
    <p:extLst>
      <p:ext uri="{BB962C8B-B14F-4D97-AF65-F5344CB8AC3E}">
        <p14:creationId xmlns:p14="http://schemas.microsoft.com/office/powerpoint/2010/main" val="24777866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80018262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5548190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2588270018"/>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6029822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358195626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385427654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5FE9C4-FFA3-4560-99F7-C9B95C679C41}"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E8B95-D1A7-41C3-AE42-803D7923C3C7}" type="slidenum">
              <a:rPr lang="en-US" smtClean="0"/>
              <a:t>‹#›</a:t>
            </a:fld>
            <a:endParaRPr lang="en-US"/>
          </a:p>
        </p:txBody>
      </p:sp>
    </p:spTree>
    <p:extLst>
      <p:ext uri="{BB962C8B-B14F-4D97-AF65-F5344CB8AC3E}">
        <p14:creationId xmlns:p14="http://schemas.microsoft.com/office/powerpoint/2010/main" val="3866316864"/>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C5FE9C4-FFA3-4560-99F7-C9B95C679C41}" type="datetimeFigureOut">
              <a:rPr lang="en-US" smtClean="0"/>
              <a:t>11/10/2024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F9E8B95-D1A7-41C3-AE42-803D7923C3C7}" type="slidenum">
              <a:rPr lang="en-US" smtClean="0"/>
              <a:t>‹#›</a:t>
            </a:fld>
            <a:endParaRPr lang="en-US"/>
          </a:p>
        </p:txBody>
      </p:sp>
    </p:spTree>
    <p:extLst>
      <p:ext uri="{BB962C8B-B14F-4D97-AF65-F5344CB8AC3E}">
        <p14:creationId xmlns:p14="http://schemas.microsoft.com/office/powerpoint/2010/main" val="185000070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listings.pcisecuritystandards.org/documents/PCI_DSS-QRG-v3_2_1.pdf" TargetMode="External"/><Relationship Id="rId2" Type="http://schemas.openxmlformats.org/officeDocument/2006/relationships/hyperlink" Target="https://docushare-web.apps.external.pioneer.humana.com/Marketing/docushare-app?file=2582606" TargetMode="External"/><Relationship Id="rId1" Type="http://schemas.openxmlformats.org/officeDocument/2006/relationships/slideLayout" Target="../slideLayouts/slideLayout2.xml"/><Relationship Id="rId5" Type="http://schemas.openxmlformats.org/officeDocument/2006/relationships/hyperlink" Target="https://www.microsoft.com/en-us/security/business/security-101/what-is-siem?msockid=32c56ea62a6d6a7437e77c0b2b6a6b1b" TargetMode="External"/><Relationship Id="rId4" Type="http://schemas.openxmlformats.org/officeDocument/2006/relationships/hyperlink" Target="https://www.securityscientist.net/blog/nist-sp-800-53-control-families/#control-family-1access-contro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7286E-D02B-473A-3B54-29A8C201AACF}"/>
              </a:ext>
            </a:extLst>
          </p:cNvPr>
          <p:cNvSpPr>
            <a:spLocks noGrp="1"/>
          </p:cNvSpPr>
          <p:nvPr>
            <p:ph type="ctrTitle"/>
          </p:nvPr>
        </p:nvSpPr>
        <p:spPr>
          <a:xfrm>
            <a:off x="1808992" y="2404534"/>
            <a:ext cx="8327652" cy="1646302"/>
          </a:xfrm>
        </p:spPr>
        <p:txBody>
          <a:bodyPr/>
          <a:lstStyle/>
          <a:p>
            <a:pPr algn="ctr"/>
            <a:r>
              <a:rPr lang="en-US" b="1">
                <a:solidFill>
                  <a:schemeClr val="tx1"/>
                </a:solidFill>
              </a:rPr>
              <a:t>Network Security for Humana </a:t>
            </a:r>
          </a:p>
        </p:txBody>
      </p:sp>
      <p:sp>
        <p:nvSpPr>
          <p:cNvPr id="3" name="Subtitle 2">
            <a:extLst>
              <a:ext uri="{FF2B5EF4-FFF2-40B4-BE49-F238E27FC236}">
                <a16:creationId xmlns:a16="http://schemas.microsoft.com/office/drawing/2014/main" id="{F759DEEA-A3EA-19CF-BCE7-4A9B43E7D5F4}"/>
              </a:ext>
            </a:extLst>
          </p:cNvPr>
          <p:cNvSpPr>
            <a:spLocks noGrp="1"/>
          </p:cNvSpPr>
          <p:nvPr>
            <p:ph type="subTitle" idx="1"/>
          </p:nvPr>
        </p:nvSpPr>
        <p:spPr>
          <a:xfrm>
            <a:off x="3893708" y="4050833"/>
            <a:ext cx="4244484" cy="1096899"/>
          </a:xfrm>
        </p:spPr>
        <p:txBody>
          <a:bodyPr vert="horz" lIns="91440" tIns="45720" rIns="91440" bIns="45720" rtlCol="0" anchor="t">
            <a:normAutofit/>
          </a:bodyPr>
          <a:lstStyle/>
          <a:p>
            <a:pPr algn="ctr"/>
            <a:r>
              <a:rPr lang="en-US"/>
              <a:t>By: Loren Anderson, Raynard Forte II, </a:t>
            </a:r>
          </a:p>
          <a:p>
            <a:pPr algn="ctr"/>
            <a:r>
              <a:rPr lang="en-US"/>
              <a:t>Steven Jackson</a:t>
            </a:r>
          </a:p>
        </p:txBody>
      </p:sp>
      <p:sp>
        <p:nvSpPr>
          <p:cNvPr id="4" name="TextBox 3">
            <a:extLst>
              <a:ext uri="{FF2B5EF4-FFF2-40B4-BE49-F238E27FC236}">
                <a16:creationId xmlns:a16="http://schemas.microsoft.com/office/drawing/2014/main" id="{0FE2C317-0762-DC59-75D1-CF62A895366B}"/>
              </a:ext>
            </a:extLst>
          </p:cNvPr>
          <p:cNvSpPr txBox="1"/>
          <p:nvPr/>
        </p:nvSpPr>
        <p:spPr>
          <a:xfrm>
            <a:off x="463763" y="6474845"/>
            <a:ext cx="112908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CTEC-345 | October 7, 2024 | Professor Latson</a:t>
            </a:r>
          </a:p>
        </p:txBody>
      </p:sp>
    </p:spTree>
    <p:extLst>
      <p:ext uri="{BB962C8B-B14F-4D97-AF65-F5344CB8AC3E}">
        <p14:creationId xmlns:p14="http://schemas.microsoft.com/office/powerpoint/2010/main" val="36120288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61DCB-261D-D904-55BA-1236F4284076}"/>
              </a:ext>
            </a:extLst>
          </p:cNvPr>
          <p:cNvSpPr>
            <a:spLocks noGrp="1"/>
          </p:cNvSpPr>
          <p:nvPr>
            <p:ph type="title"/>
          </p:nvPr>
        </p:nvSpPr>
        <p:spPr/>
        <p:txBody>
          <a:bodyPr/>
          <a:lstStyle/>
          <a:p>
            <a:r>
              <a:rPr lang="en-US" b="1">
                <a:solidFill>
                  <a:schemeClr val="tx1"/>
                </a:solidFill>
              </a:rPr>
              <a:t>Agenda:</a:t>
            </a:r>
          </a:p>
        </p:txBody>
      </p:sp>
      <p:sp>
        <p:nvSpPr>
          <p:cNvPr id="3" name="Content Placeholder 2">
            <a:extLst>
              <a:ext uri="{FF2B5EF4-FFF2-40B4-BE49-F238E27FC236}">
                <a16:creationId xmlns:a16="http://schemas.microsoft.com/office/drawing/2014/main" id="{1F56433C-697B-4175-0762-1D8BF2759BB3}"/>
              </a:ext>
            </a:extLst>
          </p:cNvPr>
          <p:cNvSpPr>
            <a:spLocks noGrp="1"/>
          </p:cNvSpPr>
          <p:nvPr>
            <p:ph idx="1"/>
          </p:nvPr>
        </p:nvSpPr>
        <p:spPr/>
        <p:txBody>
          <a:bodyPr vert="horz" lIns="91440" tIns="45720" rIns="91440" bIns="45720" rtlCol="0" anchor="t">
            <a:normAutofit/>
          </a:bodyPr>
          <a:lstStyle/>
          <a:p>
            <a:r>
              <a:rPr lang="en-US"/>
              <a:t>Introductions</a:t>
            </a:r>
          </a:p>
          <a:p>
            <a:r>
              <a:rPr lang="en-US"/>
              <a:t>Review Company Information</a:t>
            </a:r>
          </a:p>
          <a:p>
            <a:r>
              <a:rPr lang="en-US"/>
              <a:t>Company Network Topology</a:t>
            </a:r>
          </a:p>
          <a:p>
            <a:r>
              <a:rPr lang="en-US"/>
              <a:t>Network Diagrams</a:t>
            </a:r>
          </a:p>
          <a:p>
            <a:r>
              <a:rPr lang="en-US"/>
              <a:t>Security Compliance Requirements</a:t>
            </a:r>
          </a:p>
          <a:p>
            <a:r>
              <a:rPr lang="en-US"/>
              <a:t>Security Access Controls</a:t>
            </a:r>
          </a:p>
          <a:p>
            <a:r>
              <a:rPr lang="en-US"/>
              <a:t>Understanding Threats and Mitigation</a:t>
            </a:r>
          </a:p>
          <a:p>
            <a:r>
              <a:rPr lang="en-US"/>
              <a:t>Business Continuity and Risk Management</a:t>
            </a:r>
          </a:p>
        </p:txBody>
      </p:sp>
      <p:sp>
        <p:nvSpPr>
          <p:cNvPr id="4" name="Slide Number Placeholder 3">
            <a:extLst>
              <a:ext uri="{FF2B5EF4-FFF2-40B4-BE49-F238E27FC236}">
                <a16:creationId xmlns:a16="http://schemas.microsoft.com/office/drawing/2014/main" id="{E27CBCBB-BDC7-B3A0-0312-1D82CF3EBA31}"/>
              </a:ext>
            </a:extLst>
          </p:cNvPr>
          <p:cNvSpPr>
            <a:spLocks noGrp="1"/>
          </p:cNvSpPr>
          <p:nvPr>
            <p:ph type="sldNum" sz="quarter" idx="12"/>
          </p:nvPr>
        </p:nvSpPr>
        <p:spPr/>
        <p:txBody>
          <a:bodyPr/>
          <a:lstStyle/>
          <a:p>
            <a:fld id="{4F9E8B95-D1A7-41C3-AE42-803D7923C3C7}" type="slidenum">
              <a:rPr lang="en-US" smtClean="0"/>
              <a:t>2</a:t>
            </a:fld>
            <a:endParaRPr lang="en-US"/>
          </a:p>
        </p:txBody>
      </p:sp>
      <p:pic>
        <p:nvPicPr>
          <p:cNvPr id="7" name="Graphic 6" descr="Clipboard Partially Checked with solid fill">
            <a:extLst>
              <a:ext uri="{FF2B5EF4-FFF2-40B4-BE49-F238E27FC236}">
                <a16:creationId xmlns:a16="http://schemas.microsoft.com/office/drawing/2014/main" id="{75A2258F-B326-9A76-6BCC-EEDCA7CC08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83857" y="1879121"/>
            <a:ext cx="3272286" cy="3099758"/>
          </a:xfrm>
          <a:prstGeom prst="rect">
            <a:avLst/>
          </a:prstGeom>
        </p:spPr>
      </p:pic>
    </p:spTree>
    <p:extLst>
      <p:ext uri="{BB962C8B-B14F-4D97-AF65-F5344CB8AC3E}">
        <p14:creationId xmlns:p14="http://schemas.microsoft.com/office/powerpoint/2010/main" val="412206380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59A4-8703-AAD5-8DED-B85F19DE2663}"/>
              </a:ext>
            </a:extLst>
          </p:cNvPr>
          <p:cNvSpPr>
            <a:spLocks noGrp="1"/>
          </p:cNvSpPr>
          <p:nvPr>
            <p:ph type="title"/>
          </p:nvPr>
        </p:nvSpPr>
        <p:spPr/>
        <p:txBody>
          <a:bodyPr/>
          <a:lstStyle/>
          <a:p>
            <a:r>
              <a:rPr lang="en-US">
                <a:solidFill>
                  <a:schemeClr val="tx1"/>
                </a:solidFill>
              </a:rPr>
              <a:t>About Humana</a:t>
            </a:r>
          </a:p>
        </p:txBody>
      </p:sp>
      <p:sp>
        <p:nvSpPr>
          <p:cNvPr id="3" name="Content Placeholder 2">
            <a:extLst>
              <a:ext uri="{FF2B5EF4-FFF2-40B4-BE49-F238E27FC236}">
                <a16:creationId xmlns:a16="http://schemas.microsoft.com/office/drawing/2014/main" id="{FFA510FE-D1D0-3E78-194F-480A68E6DF86}"/>
              </a:ext>
            </a:extLst>
          </p:cNvPr>
          <p:cNvSpPr>
            <a:spLocks noGrp="1"/>
          </p:cNvSpPr>
          <p:nvPr>
            <p:ph idx="1"/>
          </p:nvPr>
        </p:nvSpPr>
        <p:spPr>
          <a:xfrm>
            <a:off x="677334" y="1477589"/>
            <a:ext cx="8596668" cy="5016584"/>
          </a:xfrm>
        </p:spPr>
        <p:txBody>
          <a:bodyPr vert="horz" lIns="91440" tIns="45720" rIns="91440" bIns="45720" rtlCol="0" anchor="t">
            <a:normAutofit/>
          </a:bodyPr>
          <a:lstStyle/>
          <a:p>
            <a:r>
              <a:rPr lang="en-US" sz="2000">
                <a:solidFill>
                  <a:schemeClr val="tx1"/>
                </a:solidFill>
              </a:rPr>
              <a:t>Humana is a health insurance company that has been in business since 1961 and is based in Louisville, Kentucky</a:t>
            </a:r>
          </a:p>
          <a:p>
            <a:r>
              <a:rPr lang="en-US" sz="2000">
                <a:solidFill>
                  <a:schemeClr val="tx1"/>
                </a:solidFill>
              </a:rPr>
              <a:t>Their service provider network consists of primary care physicians, urgent care centers, hospitals, specialists, home health, imaging centers, and labs </a:t>
            </a:r>
          </a:p>
          <a:p>
            <a:r>
              <a:rPr lang="en-US" sz="2000">
                <a:solidFill>
                  <a:schemeClr val="tx1"/>
                </a:solidFill>
              </a:rPr>
              <a:t>Humana provides health insurance in all 50 states of America</a:t>
            </a:r>
          </a:p>
          <a:p>
            <a:r>
              <a:rPr lang="en-US" sz="2000">
                <a:solidFill>
                  <a:schemeClr val="tx1"/>
                </a:solidFill>
              </a:rPr>
              <a:t>They offer personalized health insurance plans that include benefits like dental, vision, transportation, hearing, and lifestyle</a:t>
            </a:r>
          </a:p>
          <a:p>
            <a:r>
              <a:rPr lang="en-US" sz="2000">
                <a:solidFill>
                  <a:schemeClr val="tx1"/>
                </a:solidFill>
              </a:rPr>
              <a:t>In the U.S, Humana serves 9 million customers and is the fifth-largest health insurance company</a:t>
            </a:r>
          </a:p>
          <a:p>
            <a:r>
              <a:rPr lang="en-US" sz="2000">
                <a:solidFill>
                  <a:schemeClr val="tx1"/>
                </a:solidFill>
              </a:rPr>
              <a:t>2023 data breach of contractor caused leak of medical and PII of Humana customers (</a:t>
            </a:r>
            <a:r>
              <a:rPr lang="en-US" sz="2000" err="1">
                <a:solidFill>
                  <a:schemeClr val="tx1"/>
                </a:solidFill>
              </a:rPr>
              <a:t>Cybernews</a:t>
            </a:r>
            <a:r>
              <a:rPr lang="en-US" sz="2000">
                <a:solidFill>
                  <a:schemeClr val="tx1"/>
                </a:solidFill>
              </a:rPr>
              <a:t>, 2023)</a:t>
            </a:r>
          </a:p>
          <a:p>
            <a:endParaRPr lang="en-US" sz="2000"/>
          </a:p>
        </p:txBody>
      </p:sp>
      <p:sp>
        <p:nvSpPr>
          <p:cNvPr id="6" name="Slide Number Placeholder 5">
            <a:extLst>
              <a:ext uri="{FF2B5EF4-FFF2-40B4-BE49-F238E27FC236}">
                <a16:creationId xmlns:a16="http://schemas.microsoft.com/office/drawing/2014/main" id="{EFBB96EF-E8C8-A818-7D3B-94C8F6A05A74}"/>
              </a:ext>
            </a:extLst>
          </p:cNvPr>
          <p:cNvSpPr>
            <a:spLocks noGrp="1"/>
          </p:cNvSpPr>
          <p:nvPr>
            <p:ph type="sldNum" sz="quarter" idx="12"/>
          </p:nvPr>
        </p:nvSpPr>
        <p:spPr/>
        <p:txBody>
          <a:bodyPr/>
          <a:lstStyle/>
          <a:p>
            <a:fld id="{4F9E8B95-D1A7-41C3-AE42-803D7923C3C7}" type="slidenum">
              <a:rPr lang="en-US" smtClean="0"/>
              <a:t>3</a:t>
            </a:fld>
            <a:endParaRPr lang="en-US"/>
          </a:p>
        </p:txBody>
      </p:sp>
    </p:spTree>
    <p:extLst>
      <p:ext uri="{BB962C8B-B14F-4D97-AF65-F5344CB8AC3E}">
        <p14:creationId xmlns:p14="http://schemas.microsoft.com/office/powerpoint/2010/main" val="18298566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B2D02-D837-E0A6-F937-3EF0F5849D0C}"/>
              </a:ext>
            </a:extLst>
          </p:cNvPr>
          <p:cNvSpPr>
            <a:spLocks noGrp="1"/>
          </p:cNvSpPr>
          <p:nvPr>
            <p:ph type="title"/>
          </p:nvPr>
        </p:nvSpPr>
        <p:spPr>
          <a:xfrm>
            <a:off x="677334" y="0"/>
            <a:ext cx="8596668" cy="1185864"/>
          </a:xfrm>
        </p:spPr>
        <p:txBody>
          <a:bodyPr>
            <a:normAutofit/>
          </a:bodyPr>
          <a:lstStyle/>
          <a:p>
            <a:r>
              <a:rPr lang="en-US">
                <a:solidFill>
                  <a:schemeClr val="tx1"/>
                </a:solidFill>
              </a:rPr>
              <a:t>Network Topology (Logical/Physical)</a:t>
            </a:r>
          </a:p>
        </p:txBody>
      </p:sp>
      <p:sp>
        <p:nvSpPr>
          <p:cNvPr id="6" name="Content Placeholder 5">
            <a:extLst>
              <a:ext uri="{FF2B5EF4-FFF2-40B4-BE49-F238E27FC236}">
                <a16:creationId xmlns:a16="http://schemas.microsoft.com/office/drawing/2014/main" id="{E63C3EA2-615D-BC10-DEBE-6A8B7310A0C5}"/>
              </a:ext>
            </a:extLst>
          </p:cNvPr>
          <p:cNvSpPr>
            <a:spLocks noGrp="1"/>
          </p:cNvSpPr>
          <p:nvPr>
            <p:ph idx="1"/>
          </p:nvPr>
        </p:nvSpPr>
        <p:spPr>
          <a:xfrm>
            <a:off x="331154" y="905443"/>
            <a:ext cx="10436969" cy="4951306"/>
          </a:xfrm>
        </p:spPr>
        <p:txBody>
          <a:bodyPr>
            <a:normAutofit lnSpcReduction="10000"/>
          </a:bodyPr>
          <a:lstStyle/>
          <a:p>
            <a:pPr marL="0" indent="0">
              <a:buNone/>
            </a:pPr>
            <a:endParaRPr lang="en-US">
              <a:solidFill>
                <a:schemeClr val="tx1"/>
              </a:solidFill>
            </a:endParaRPr>
          </a:p>
          <a:p>
            <a:r>
              <a:rPr lang="en-US" b="0" i="0">
                <a:solidFill>
                  <a:schemeClr val="tx1"/>
                </a:solidFill>
                <a:effectLst/>
                <a:latin typeface="+mj-lt"/>
              </a:rPr>
              <a:t>The physical network of Humana has a hybrid architecture, utilizing partial ring, mesh, and star topologies spread over several data centers. </a:t>
            </a:r>
          </a:p>
          <a:p>
            <a:r>
              <a:rPr lang="en-US" b="0" i="0">
                <a:solidFill>
                  <a:schemeClr val="tx1"/>
                </a:solidFill>
                <a:effectLst/>
                <a:latin typeface="+mj-lt"/>
              </a:rPr>
              <a:t>The High-speed fiber-optic networks connect each data center to nearby branch offices, medical providers, and patient systems. Disaster recovery and high availability are guaranteed by redundant connections. </a:t>
            </a:r>
          </a:p>
          <a:p>
            <a:r>
              <a:rPr lang="en-US" b="0" i="0">
                <a:solidFill>
                  <a:schemeClr val="tx1"/>
                </a:solidFill>
                <a:effectLst/>
                <a:latin typeface="+mj-lt"/>
              </a:rPr>
              <a:t>And Mesh connections between data centers offer failover and load balancing. In contrast, Star Topology effectively manages branch offices, call centers, and partner facilities (such as pharmacies and hospitals).</a:t>
            </a:r>
            <a:endParaRPr lang="en-US">
              <a:solidFill>
                <a:schemeClr val="tx1"/>
              </a:solidFill>
              <a:effectLst/>
              <a:latin typeface="+mj-lt"/>
            </a:endParaRPr>
          </a:p>
          <a:p>
            <a:r>
              <a:rPr lang="en-US">
                <a:solidFill>
                  <a:schemeClr val="tx1"/>
                </a:solidFill>
                <a:latin typeface="+mj-lt"/>
              </a:rPr>
              <a:t>Logically users (providers, patients) access services via Edge Networks through secure connections (e.g., VPNs, MPLS).</a:t>
            </a:r>
          </a:p>
          <a:p>
            <a:r>
              <a:rPr lang="en-US">
                <a:solidFill>
                  <a:schemeClr val="tx1"/>
                </a:solidFill>
                <a:latin typeface="+mj-lt"/>
              </a:rPr>
              <a:t> Then the Core Networks manage large data transfers (e.g., claims, records) using BGP and OSPF for scalability and performance.</a:t>
            </a:r>
          </a:p>
          <a:p>
            <a:r>
              <a:rPr lang="en-US">
                <a:solidFill>
                  <a:schemeClr val="tx1"/>
                </a:solidFill>
                <a:latin typeface="+mj-lt"/>
              </a:rPr>
              <a:t>Then Humana uses Cloud Integration to support scaling, analytics, and data storage for Medicare compliance and patient care.</a:t>
            </a:r>
          </a:p>
        </p:txBody>
      </p:sp>
      <p:sp>
        <p:nvSpPr>
          <p:cNvPr id="3" name="Slide Number Placeholder 2">
            <a:extLst>
              <a:ext uri="{FF2B5EF4-FFF2-40B4-BE49-F238E27FC236}">
                <a16:creationId xmlns:a16="http://schemas.microsoft.com/office/drawing/2014/main" id="{0D424F02-029A-A8E1-302B-AC4048D93759}"/>
              </a:ext>
            </a:extLst>
          </p:cNvPr>
          <p:cNvSpPr>
            <a:spLocks noGrp="1"/>
          </p:cNvSpPr>
          <p:nvPr>
            <p:ph type="sldNum" sz="quarter" idx="12"/>
          </p:nvPr>
        </p:nvSpPr>
        <p:spPr/>
        <p:txBody>
          <a:bodyPr/>
          <a:lstStyle/>
          <a:p>
            <a:fld id="{4F9E8B95-D1A7-41C3-AE42-803D7923C3C7}" type="slidenum">
              <a:rPr lang="en-US" smtClean="0"/>
              <a:t>4</a:t>
            </a:fld>
            <a:endParaRPr lang="en-US"/>
          </a:p>
        </p:txBody>
      </p:sp>
    </p:spTree>
    <p:extLst>
      <p:ext uri="{BB962C8B-B14F-4D97-AF65-F5344CB8AC3E}">
        <p14:creationId xmlns:p14="http://schemas.microsoft.com/office/powerpoint/2010/main" val="38759416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map of the united states&#10;&#10;Description automatically generated">
            <a:extLst>
              <a:ext uri="{FF2B5EF4-FFF2-40B4-BE49-F238E27FC236}">
                <a16:creationId xmlns:a16="http://schemas.microsoft.com/office/drawing/2014/main" id="{7D6BB6BE-B144-96B9-BBE4-B81683AC4CA9}"/>
              </a:ext>
            </a:extLst>
          </p:cNvPr>
          <p:cNvPicPr>
            <a:picLocks noGrp="1" noChangeAspect="1"/>
          </p:cNvPicPr>
          <p:nvPr>
            <p:ph idx="1"/>
          </p:nvPr>
        </p:nvPicPr>
        <p:blipFill>
          <a:blip r:embed="rId3"/>
          <a:stretch>
            <a:fillRect/>
          </a:stretch>
        </p:blipFill>
        <p:spPr>
          <a:xfrm>
            <a:off x="1568234" y="876764"/>
            <a:ext cx="9143999" cy="5154461"/>
          </a:xfrm>
          <a:ln>
            <a:solidFill>
              <a:schemeClr val="tx1"/>
            </a:solidFill>
          </a:ln>
        </p:spPr>
      </p:pic>
      <p:sp>
        <p:nvSpPr>
          <p:cNvPr id="2" name="Title 1">
            <a:extLst>
              <a:ext uri="{FF2B5EF4-FFF2-40B4-BE49-F238E27FC236}">
                <a16:creationId xmlns:a16="http://schemas.microsoft.com/office/drawing/2014/main" id="{A7A72615-3184-C9F4-162B-D76916EB97B1}"/>
              </a:ext>
            </a:extLst>
          </p:cNvPr>
          <p:cNvSpPr>
            <a:spLocks noGrp="1"/>
          </p:cNvSpPr>
          <p:nvPr>
            <p:ph type="title"/>
          </p:nvPr>
        </p:nvSpPr>
        <p:spPr>
          <a:xfrm>
            <a:off x="1841900" y="235789"/>
            <a:ext cx="8596668" cy="630687"/>
          </a:xfrm>
        </p:spPr>
        <p:txBody>
          <a:bodyPr>
            <a:normAutofit fontScale="90000"/>
          </a:bodyPr>
          <a:lstStyle/>
          <a:p>
            <a:pPr algn="ctr"/>
            <a:r>
              <a:rPr lang="en-US">
                <a:solidFill>
                  <a:schemeClr val="tx1"/>
                </a:solidFill>
              </a:rPr>
              <a:t>WAN DIAGRAM</a:t>
            </a:r>
          </a:p>
        </p:txBody>
      </p:sp>
      <p:sp>
        <p:nvSpPr>
          <p:cNvPr id="31" name="Arrow: Left-Right 30">
            <a:extLst>
              <a:ext uri="{FF2B5EF4-FFF2-40B4-BE49-F238E27FC236}">
                <a16:creationId xmlns:a16="http://schemas.microsoft.com/office/drawing/2014/main" id="{ECD8AB2D-AE3A-CF95-5177-EF7E237FC986}"/>
              </a:ext>
            </a:extLst>
          </p:cNvPr>
          <p:cNvSpPr/>
          <p:nvPr/>
        </p:nvSpPr>
        <p:spPr>
          <a:xfrm rot="16740000">
            <a:off x="1648251" y="2516554"/>
            <a:ext cx="1288492" cy="166376"/>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Left-Right 31">
            <a:extLst>
              <a:ext uri="{FF2B5EF4-FFF2-40B4-BE49-F238E27FC236}">
                <a16:creationId xmlns:a16="http://schemas.microsoft.com/office/drawing/2014/main" id="{487CB67D-4A04-D6A1-32BF-950EDD42F192}"/>
              </a:ext>
            </a:extLst>
          </p:cNvPr>
          <p:cNvSpPr/>
          <p:nvPr/>
        </p:nvSpPr>
        <p:spPr>
          <a:xfrm rot="1620000">
            <a:off x="2137080" y="3724251"/>
            <a:ext cx="1288492" cy="166376"/>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Left-Right 32">
            <a:extLst>
              <a:ext uri="{FF2B5EF4-FFF2-40B4-BE49-F238E27FC236}">
                <a16:creationId xmlns:a16="http://schemas.microsoft.com/office/drawing/2014/main" id="{0587C313-7DB4-135D-C9CF-94712384FBB1}"/>
              </a:ext>
            </a:extLst>
          </p:cNvPr>
          <p:cNvSpPr/>
          <p:nvPr/>
        </p:nvSpPr>
        <p:spPr>
          <a:xfrm rot="1440000">
            <a:off x="3334839" y="4463475"/>
            <a:ext cx="1964227" cy="151999"/>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Left-Right 33">
            <a:extLst>
              <a:ext uri="{FF2B5EF4-FFF2-40B4-BE49-F238E27FC236}">
                <a16:creationId xmlns:a16="http://schemas.microsoft.com/office/drawing/2014/main" id="{803C9C8D-C80D-1E0D-4D3F-1F4187339002}"/>
              </a:ext>
            </a:extLst>
          </p:cNvPr>
          <p:cNvSpPr/>
          <p:nvPr/>
        </p:nvSpPr>
        <p:spPr>
          <a:xfrm rot="1140000">
            <a:off x="5845440" y="2053383"/>
            <a:ext cx="1705435" cy="223886"/>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Left-Right 34">
            <a:extLst>
              <a:ext uri="{FF2B5EF4-FFF2-40B4-BE49-F238E27FC236}">
                <a16:creationId xmlns:a16="http://schemas.microsoft.com/office/drawing/2014/main" id="{E4264CAF-B980-A67C-C388-923714288678}"/>
              </a:ext>
            </a:extLst>
          </p:cNvPr>
          <p:cNvSpPr/>
          <p:nvPr/>
        </p:nvSpPr>
        <p:spPr>
          <a:xfrm rot="-2340000">
            <a:off x="4122450" y="2520747"/>
            <a:ext cx="2122378" cy="180754"/>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Left-Right 35">
            <a:extLst>
              <a:ext uri="{FF2B5EF4-FFF2-40B4-BE49-F238E27FC236}">
                <a16:creationId xmlns:a16="http://schemas.microsoft.com/office/drawing/2014/main" id="{6B52B9A3-E1DD-7EE8-4AC8-3885AB6ED635}"/>
              </a:ext>
            </a:extLst>
          </p:cNvPr>
          <p:cNvSpPr/>
          <p:nvPr/>
        </p:nvSpPr>
        <p:spPr>
          <a:xfrm rot="1500000">
            <a:off x="6414334" y="4635574"/>
            <a:ext cx="1834831" cy="152000"/>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Left-Right 36">
            <a:extLst>
              <a:ext uri="{FF2B5EF4-FFF2-40B4-BE49-F238E27FC236}">
                <a16:creationId xmlns:a16="http://schemas.microsoft.com/office/drawing/2014/main" id="{AF921B3B-0271-C199-90BA-3936F48DB4C5}"/>
              </a:ext>
            </a:extLst>
          </p:cNvPr>
          <p:cNvSpPr/>
          <p:nvPr/>
        </p:nvSpPr>
        <p:spPr>
          <a:xfrm rot="720000">
            <a:off x="6371045" y="4248695"/>
            <a:ext cx="1432266" cy="166377"/>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Left-Right 37">
            <a:extLst>
              <a:ext uri="{FF2B5EF4-FFF2-40B4-BE49-F238E27FC236}">
                <a16:creationId xmlns:a16="http://schemas.microsoft.com/office/drawing/2014/main" id="{4E66482B-C037-F050-F851-1F476128BEAA}"/>
              </a:ext>
            </a:extLst>
          </p:cNvPr>
          <p:cNvSpPr/>
          <p:nvPr/>
        </p:nvSpPr>
        <p:spPr>
          <a:xfrm rot="10140000">
            <a:off x="2949230" y="5085288"/>
            <a:ext cx="2237396" cy="151999"/>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Left-Right 38">
            <a:extLst>
              <a:ext uri="{FF2B5EF4-FFF2-40B4-BE49-F238E27FC236}">
                <a16:creationId xmlns:a16="http://schemas.microsoft.com/office/drawing/2014/main" id="{54F3D316-A1D5-013D-0F8B-A5BF22A91F84}"/>
              </a:ext>
            </a:extLst>
          </p:cNvPr>
          <p:cNvSpPr/>
          <p:nvPr/>
        </p:nvSpPr>
        <p:spPr>
          <a:xfrm rot="-4620000">
            <a:off x="2413343" y="4669169"/>
            <a:ext cx="1317245" cy="209508"/>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Left-Right 39">
            <a:extLst>
              <a:ext uri="{FF2B5EF4-FFF2-40B4-BE49-F238E27FC236}">
                <a16:creationId xmlns:a16="http://schemas.microsoft.com/office/drawing/2014/main" id="{EE48F673-4376-901B-0BBB-56741468ADE7}"/>
              </a:ext>
            </a:extLst>
          </p:cNvPr>
          <p:cNvSpPr/>
          <p:nvPr/>
        </p:nvSpPr>
        <p:spPr>
          <a:xfrm rot="15060000">
            <a:off x="1396475" y="4409552"/>
            <a:ext cx="2237396" cy="151999"/>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Left-Right 40">
            <a:extLst>
              <a:ext uri="{FF2B5EF4-FFF2-40B4-BE49-F238E27FC236}">
                <a16:creationId xmlns:a16="http://schemas.microsoft.com/office/drawing/2014/main" id="{637221B6-CF98-9A33-54CC-FF7A9E2FF942}"/>
              </a:ext>
            </a:extLst>
          </p:cNvPr>
          <p:cNvSpPr/>
          <p:nvPr/>
        </p:nvSpPr>
        <p:spPr>
          <a:xfrm rot="13140000">
            <a:off x="2166385" y="2451332"/>
            <a:ext cx="2366792" cy="238263"/>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Left-Right 43">
            <a:extLst>
              <a:ext uri="{FF2B5EF4-FFF2-40B4-BE49-F238E27FC236}">
                <a16:creationId xmlns:a16="http://schemas.microsoft.com/office/drawing/2014/main" id="{49220A3F-2A20-93A7-42C5-C5FDD7CA27B1}"/>
              </a:ext>
            </a:extLst>
          </p:cNvPr>
          <p:cNvSpPr/>
          <p:nvPr/>
        </p:nvSpPr>
        <p:spPr>
          <a:xfrm rot="12540000">
            <a:off x="4202358" y="3785968"/>
            <a:ext cx="2294905" cy="166377"/>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Left-Right 44">
            <a:extLst>
              <a:ext uri="{FF2B5EF4-FFF2-40B4-BE49-F238E27FC236}">
                <a16:creationId xmlns:a16="http://schemas.microsoft.com/office/drawing/2014/main" id="{CC14552D-352B-8252-AEDA-569E40FC0DB2}"/>
              </a:ext>
            </a:extLst>
          </p:cNvPr>
          <p:cNvSpPr/>
          <p:nvPr/>
        </p:nvSpPr>
        <p:spPr>
          <a:xfrm rot="5940000">
            <a:off x="7081680" y="3587369"/>
            <a:ext cx="2970642" cy="209508"/>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Left-Right 45">
            <a:extLst>
              <a:ext uri="{FF2B5EF4-FFF2-40B4-BE49-F238E27FC236}">
                <a16:creationId xmlns:a16="http://schemas.microsoft.com/office/drawing/2014/main" id="{E8804C1B-8C00-F194-6AAB-A0E6B23A62CE}"/>
              </a:ext>
            </a:extLst>
          </p:cNvPr>
          <p:cNvSpPr/>
          <p:nvPr/>
        </p:nvSpPr>
        <p:spPr>
          <a:xfrm rot="-1320000">
            <a:off x="6373621" y="3797716"/>
            <a:ext cx="1115965" cy="209509"/>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Arrow: Left-Right 46">
            <a:extLst>
              <a:ext uri="{FF2B5EF4-FFF2-40B4-BE49-F238E27FC236}">
                <a16:creationId xmlns:a16="http://schemas.microsoft.com/office/drawing/2014/main" id="{870D95FC-9391-E64F-BA46-99FB12E0C8A7}"/>
              </a:ext>
            </a:extLst>
          </p:cNvPr>
          <p:cNvSpPr/>
          <p:nvPr/>
        </p:nvSpPr>
        <p:spPr>
          <a:xfrm rot="5400000">
            <a:off x="6802365" y="2997864"/>
            <a:ext cx="1432266" cy="166377"/>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Left-Right 47">
            <a:extLst>
              <a:ext uri="{FF2B5EF4-FFF2-40B4-BE49-F238E27FC236}">
                <a16:creationId xmlns:a16="http://schemas.microsoft.com/office/drawing/2014/main" id="{3520E0AA-1B27-8702-A95B-993A60869746}"/>
              </a:ext>
            </a:extLst>
          </p:cNvPr>
          <p:cNvSpPr/>
          <p:nvPr/>
        </p:nvSpPr>
        <p:spPr>
          <a:xfrm rot="1920000">
            <a:off x="7276832" y="2479866"/>
            <a:ext cx="1115964" cy="238264"/>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Left-Right 48">
            <a:extLst>
              <a:ext uri="{FF2B5EF4-FFF2-40B4-BE49-F238E27FC236}">
                <a16:creationId xmlns:a16="http://schemas.microsoft.com/office/drawing/2014/main" id="{51F978B9-2015-C0AE-E2A2-423B87B6910E}"/>
              </a:ext>
            </a:extLst>
          </p:cNvPr>
          <p:cNvSpPr/>
          <p:nvPr/>
        </p:nvSpPr>
        <p:spPr>
          <a:xfrm rot="8340000">
            <a:off x="7363096" y="3155601"/>
            <a:ext cx="1115964" cy="238264"/>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tar: 5 Points 29">
            <a:extLst>
              <a:ext uri="{FF2B5EF4-FFF2-40B4-BE49-F238E27FC236}">
                <a16:creationId xmlns:a16="http://schemas.microsoft.com/office/drawing/2014/main" id="{D1CDB69F-3417-E802-CB73-4072BC27ED66}"/>
              </a:ext>
            </a:extLst>
          </p:cNvPr>
          <p:cNvSpPr/>
          <p:nvPr/>
        </p:nvSpPr>
        <p:spPr>
          <a:xfrm>
            <a:off x="8320182" y="1783620"/>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tar: 5 Points 27">
            <a:extLst>
              <a:ext uri="{FF2B5EF4-FFF2-40B4-BE49-F238E27FC236}">
                <a16:creationId xmlns:a16="http://schemas.microsoft.com/office/drawing/2014/main" id="{273B7D00-633B-F4C5-3B51-7386705464D6}"/>
              </a:ext>
            </a:extLst>
          </p:cNvPr>
          <p:cNvSpPr/>
          <p:nvPr/>
        </p:nvSpPr>
        <p:spPr>
          <a:xfrm>
            <a:off x="7040597" y="1970526"/>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tar: 5 Points 2">
            <a:extLst>
              <a:ext uri="{FF2B5EF4-FFF2-40B4-BE49-F238E27FC236}">
                <a16:creationId xmlns:a16="http://schemas.microsoft.com/office/drawing/2014/main" id="{8908FCA6-0D15-F1A2-FB21-B227483BCBDC}"/>
              </a:ext>
            </a:extLst>
          </p:cNvPr>
          <p:cNvSpPr/>
          <p:nvPr/>
        </p:nvSpPr>
        <p:spPr>
          <a:xfrm>
            <a:off x="1735352" y="3005696"/>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tar: 5 Points 3">
            <a:extLst>
              <a:ext uri="{FF2B5EF4-FFF2-40B4-BE49-F238E27FC236}">
                <a16:creationId xmlns:a16="http://schemas.microsoft.com/office/drawing/2014/main" id="{30E06197-D54D-0023-4EEF-AB9D910018F8}"/>
              </a:ext>
            </a:extLst>
          </p:cNvPr>
          <p:cNvSpPr/>
          <p:nvPr/>
        </p:nvSpPr>
        <p:spPr>
          <a:xfrm>
            <a:off x="2511729" y="4932261"/>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Left-Right 49">
            <a:extLst>
              <a:ext uri="{FF2B5EF4-FFF2-40B4-BE49-F238E27FC236}">
                <a16:creationId xmlns:a16="http://schemas.microsoft.com/office/drawing/2014/main" id="{0DD5153A-2AA9-3149-0EF3-F2EEC13BB510}"/>
              </a:ext>
            </a:extLst>
          </p:cNvPr>
          <p:cNvSpPr/>
          <p:nvPr/>
        </p:nvSpPr>
        <p:spPr>
          <a:xfrm rot="8100000">
            <a:off x="3302163" y="3678960"/>
            <a:ext cx="1058455" cy="108867"/>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tar: 5 Points 18">
            <a:extLst>
              <a:ext uri="{FF2B5EF4-FFF2-40B4-BE49-F238E27FC236}">
                <a16:creationId xmlns:a16="http://schemas.microsoft.com/office/drawing/2014/main" id="{C1075A2D-43C7-83CC-44B7-B12537DC8EEA}"/>
              </a:ext>
            </a:extLst>
          </p:cNvPr>
          <p:cNvSpPr/>
          <p:nvPr/>
        </p:nvSpPr>
        <p:spPr>
          <a:xfrm>
            <a:off x="2914295" y="3710186"/>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Arrow: Left-Right 50">
            <a:extLst>
              <a:ext uri="{FF2B5EF4-FFF2-40B4-BE49-F238E27FC236}">
                <a16:creationId xmlns:a16="http://schemas.microsoft.com/office/drawing/2014/main" id="{9C1B6F99-7D8A-99F4-57E6-52BDF0BA34EA}"/>
              </a:ext>
            </a:extLst>
          </p:cNvPr>
          <p:cNvSpPr/>
          <p:nvPr/>
        </p:nvSpPr>
        <p:spPr>
          <a:xfrm rot="420000">
            <a:off x="5345635" y="5088831"/>
            <a:ext cx="2841245" cy="180753"/>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Left-Right 51">
            <a:extLst>
              <a:ext uri="{FF2B5EF4-FFF2-40B4-BE49-F238E27FC236}">
                <a16:creationId xmlns:a16="http://schemas.microsoft.com/office/drawing/2014/main" id="{C5B6B660-ECD5-9CF9-675D-96BDA9CDB2FB}"/>
              </a:ext>
            </a:extLst>
          </p:cNvPr>
          <p:cNvSpPr/>
          <p:nvPr/>
        </p:nvSpPr>
        <p:spPr>
          <a:xfrm rot="6600000">
            <a:off x="7266961" y="3566584"/>
            <a:ext cx="1604794" cy="195133"/>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Star: 5 Points 28">
            <a:extLst>
              <a:ext uri="{FF2B5EF4-FFF2-40B4-BE49-F238E27FC236}">
                <a16:creationId xmlns:a16="http://schemas.microsoft.com/office/drawing/2014/main" id="{82608B23-6380-60CB-D5B5-34C4E585AA28}"/>
              </a:ext>
            </a:extLst>
          </p:cNvPr>
          <p:cNvSpPr/>
          <p:nvPr/>
        </p:nvSpPr>
        <p:spPr>
          <a:xfrm>
            <a:off x="7931993" y="2358715"/>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Arrow: Left-Right 52">
            <a:extLst>
              <a:ext uri="{FF2B5EF4-FFF2-40B4-BE49-F238E27FC236}">
                <a16:creationId xmlns:a16="http://schemas.microsoft.com/office/drawing/2014/main" id="{F8853482-7291-152A-7BC8-8DDCACE062E7}"/>
              </a:ext>
            </a:extLst>
          </p:cNvPr>
          <p:cNvSpPr/>
          <p:nvPr/>
        </p:nvSpPr>
        <p:spPr>
          <a:xfrm rot="14820000">
            <a:off x="7138381" y="4298693"/>
            <a:ext cx="1475398" cy="267019"/>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tar: 5 Points 26">
            <a:extLst>
              <a:ext uri="{FF2B5EF4-FFF2-40B4-BE49-F238E27FC236}">
                <a16:creationId xmlns:a16="http://schemas.microsoft.com/office/drawing/2014/main" id="{C1E7010E-CD88-39DD-42DC-E9FDD060276A}"/>
              </a:ext>
            </a:extLst>
          </p:cNvPr>
          <p:cNvSpPr/>
          <p:nvPr/>
        </p:nvSpPr>
        <p:spPr>
          <a:xfrm>
            <a:off x="7069351" y="3149469"/>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tar: 5 Points 25">
            <a:extLst>
              <a:ext uri="{FF2B5EF4-FFF2-40B4-BE49-F238E27FC236}">
                <a16:creationId xmlns:a16="http://schemas.microsoft.com/office/drawing/2014/main" id="{E4078888-7CE2-FCA9-9560-8C02526B080C}"/>
              </a:ext>
            </a:extLst>
          </p:cNvPr>
          <p:cNvSpPr/>
          <p:nvPr/>
        </p:nvSpPr>
        <p:spPr>
          <a:xfrm>
            <a:off x="7457540" y="4012111"/>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Star: 5 Points 24">
            <a:extLst>
              <a:ext uri="{FF2B5EF4-FFF2-40B4-BE49-F238E27FC236}">
                <a16:creationId xmlns:a16="http://schemas.microsoft.com/office/drawing/2014/main" id="{04C15C50-BE99-6157-6423-EE8486DA9752}"/>
              </a:ext>
            </a:extLst>
          </p:cNvPr>
          <p:cNvSpPr/>
          <p:nvPr/>
        </p:nvSpPr>
        <p:spPr>
          <a:xfrm>
            <a:off x="7816974" y="4788488"/>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Left-Right 53">
            <a:extLst>
              <a:ext uri="{FF2B5EF4-FFF2-40B4-BE49-F238E27FC236}">
                <a16:creationId xmlns:a16="http://schemas.microsoft.com/office/drawing/2014/main" id="{91D38FF1-7726-3E54-48DA-444FE0FFD168}"/>
              </a:ext>
            </a:extLst>
          </p:cNvPr>
          <p:cNvSpPr/>
          <p:nvPr/>
        </p:nvSpPr>
        <p:spPr>
          <a:xfrm rot="3420000">
            <a:off x="3944736" y="4005788"/>
            <a:ext cx="1748567" cy="195132"/>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tar: 5 Points 20">
            <a:extLst>
              <a:ext uri="{FF2B5EF4-FFF2-40B4-BE49-F238E27FC236}">
                <a16:creationId xmlns:a16="http://schemas.microsoft.com/office/drawing/2014/main" id="{5DB4C50C-440A-126E-B946-6AFDDC52F1FE}"/>
              </a:ext>
            </a:extLst>
          </p:cNvPr>
          <p:cNvSpPr/>
          <p:nvPr/>
        </p:nvSpPr>
        <p:spPr>
          <a:xfrm>
            <a:off x="4869615" y="4544073"/>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tar: 5 Points 19">
            <a:extLst>
              <a:ext uri="{FF2B5EF4-FFF2-40B4-BE49-F238E27FC236}">
                <a16:creationId xmlns:a16="http://schemas.microsoft.com/office/drawing/2014/main" id="{A9E6B0C3-9D80-8C92-5C13-AC29F15DE332}"/>
              </a:ext>
            </a:extLst>
          </p:cNvPr>
          <p:cNvSpPr/>
          <p:nvPr/>
        </p:nvSpPr>
        <p:spPr>
          <a:xfrm>
            <a:off x="3935087" y="2890676"/>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Arrow: Left-Right 54">
            <a:extLst>
              <a:ext uri="{FF2B5EF4-FFF2-40B4-BE49-F238E27FC236}">
                <a16:creationId xmlns:a16="http://schemas.microsoft.com/office/drawing/2014/main" id="{85970CFD-5CEF-0386-2513-714C83083401}"/>
              </a:ext>
            </a:extLst>
          </p:cNvPr>
          <p:cNvSpPr/>
          <p:nvPr/>
        </p:nvSpPr>
        <p:spPr>
          <a:xfrm rot="10800000">
            <a:off x="2374152" y="1746620"/>
            <a:ext cx="3488228" cy="195133"/>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tar: 5 Points 21">
            <a:extLst>
              <a:ext uri="{FF2B5EF4-FFF2-40B4-BE49-F238E27FC236}">
                <a16:creationId xmlns:a16="http://schemas.microsoft.com/office/drawing/2014/main" id="{F0E9E936-AEF7-19C0-3E8F-D3C47A82E8B7}"/>
              </a:ext>
            </a:extLst>
          </p:cNvPr>
          <p:cNvSpPr/>
          <p:nvPr/>
        </p:nvSpPr>
        <p:spPr>
          <a:xfrm>
            <a:off x="1936634" y="1395431"/>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Left-Right 55">
            <a:extLst>
              <a:ext uri="{FF2B5EF4-FFF2-40B4-BE49-F238E27FC236}">
                <a16:creationId xmlns:a16="http://schemas.microsoft.com/office/drawing/2014/main" id="{73D47FB1-8408-F75E-A457-FF6BB15ED0F9}"/>
              </a:ext>
            </a:extLst>
          </p:cNvPr>
          <p:cNvSpPr/>
          <p:nvPr/>
        </p:nvSpPr>
        <p:spPr>
          <a:xfrm rot="4800000" flipV="1">
            <a:off x="5102408" y="2815930"/>
            <a:ext cx="2237395" cy="221812"/>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tar: 5 Points 23">
            <a:extLst>
              <a:ext uri="{FF2B5EF4-FFF2-40B4-BE49-F238E27FC236}">
                <a16:creationId xmlns:a16="http://schemas.microsoft.com/office/drawing/2014/main" id="{6B28E0E8-2F41-55E8-253F-E5F1CC3BE36C}"/>
              </a:ext>
            </a:extLst>
          </p:cNvPr>
          <p:cNvSpPr/>
          <p:nvPr/>
        </p:nvSpPr>
        <p:spPr>
          <a:xfrm>
            <a:off x="5991050" y="3782073"/>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tar: 5 Points 22">
            <a:extLst>
              <a:ext uri="{FF2B5EF4-FFF2-40B4-BE49-F238E27FC236}">
                <a16:creationId xmlns:a16="http://schemas.microsoft.com/office/drawing/2014/main" id="{BF08AA9C-F449-87E9-6294-BA550380D631}"/>
              </a:ext>
            </a:extLst>
          </p:cNvPr>
          <p:cNvSpPr/>
          <p:nvPr/>
        </p:nvSpPr>
        <p:spPr>
          <a:xfrm>
            <a:off x="5602861" y="1424186"/>
            <a:ext cx="787520" cy="769146"/>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Star: 5 Points 56">
            <a:extLst>
              <a:ext uri="{FF2B5EF4-FFF2-40B4-BE49-F238E27FC236}">
                <a16:creationId xmlns:a16="http://schemas.microsoft.com/office/drawing/2014/main" id="{262C653B-B548-7F41-6AC4-19F8E3D8D08A}"/>
              </a:ext>
            </a:extLst>
          </p:cNvPr>
          <p:cNvSpPr/>
          <p:nvPr/>
        </p:nvSpPr>
        <p:spPr>
          <a:xfrm>
            <a:off x="2022898" y="6053696"/>
            <a:ext cx="456842" cy="539108"/>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Arrow: Left-Right 57">
            <a:extLst>
              <a:ext uri="{FF2B5EF4-FFF2-40B4-BE49-F238E27FC236}">
                <a16:creationId xmlns:a16="http://schemas.microsoft.com/office/drawing/2014/main" id="{EC6BFF62-47F1-5F13-80F5-1500C782B865}"/>
              </a:ext>
            </a:extLst>
          </p:cNvPr>
          <p:cNvSpPr/>
          <p:nvPr/>
        </p:nvSpPr>
        <p:spPr>
          <a:xfrm>
            <a:off x="4592063" y="6308886"/>
            <a:ext cx="655887" cy="195130"/>
          </a:xfrm>
          <a:prstGeom prst="lef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3C530A9C-AB21-451B-52A0-05D901A8C4FC}"/>
              </a:ext>
            </a:extLst>
          </p:cNvPr>
          <p:cNvSpPr txBox="1"/>
          <p:nvPr/>
        </p:nvSpPr>
        <p:spPr>
          <a:xfrm>
            <a:off x="2532860" y="6225127"/>
            <a:ext cx="16588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Branch</a:t>
            </a:r>
          </a:p>
        </p:txBody>
      </p:sp>
      <p:sp>
        <p:nvSpPr>
          <p:cNvPr id="60" name="TextBox 59">
            <a:extLst>
              <a:ext uri="{FF2B5EF4-FFF2-40B4-BE49-F238E27FC236}">
                <a16:creationId xmlns:a16="http://schemas.microsoft.com/office/drawing/2014/main" id="{6863FD3B-A21F-ACAB-C5B3-F42945F5ED7D}"/>
              </a:ext>
            </a:extLst>
          </p:cNvPr>
          <p:cNvSpPr txBox="1"/>
          <p:nvPr/>
        </p:nvSpPr>
        <p:spPr>
          <a:xfrm>
            <a:off x="5379577" y="6239504"/>
            <a:ext cx="24208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WAN Connection</a:t>
            </a:r>
            <a:endParaRPr lang="en-US"/>
          </a:p>
        </p:txBody>
      </p:sp>
      <p:sp>
        <p:nvSpPr>
          <p:cNvPr id="8" name="Slide Number Placeholder 7">
            <a:extLst>
              <a:ext uri="{FF2B5EF4-FFF2-40B4-BE49-F238E27FC236}">
                <a16:creationId xmlns:a16="http://schemas.microsoft.com/office/drawing/2014/main" id="{1CF28F95-066E-2371-2D6C-49CE2B0A05A0}"/>
              </a:ext>
            </a:extLst>
          </p:cNvPr>
          <p:cNvSpPr>
            <a:spLocks noGrp="1"/>
          </p:cNvSpPr>
          <p:nvPr>
            <p:ph type="sldNum" sz="quarter" idx="12"/>
          </p:nvPr>
        </p:nvSpPr>
        <p:spPr/>
        <p:txBody>
          <a:bodyPr/>
          <a:lstStyle/>
          <a:p>
            <a:fld id="{4F9E8B95-D1A7-41C3-AE42-803D7923C3C7}" type="slidenum">
              <a:rPr lang="en-US" smtClean="0"/>
              <a:t>5</a:t>
            </a:fld>
            <a:endParaRPr lang="en-US"/>
          </a:p>
        </p:txBody>
      </p:sp>
    </p:spTree>
    <p:extLst>
      <p:ext uri="{BB962C8B-B14F-4D97-AF65-F5344CB8AC3E}">
        <p14:creationId xmlns:p14="http://schemas.microsoft.com/office/powerpoint/2010/main" val="41467554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1000" fill="hold"/>
                                        <p:tgtEl>
                                          <p:spTgt spid="19"/>
                                        </p:tgtEl>
                                        <p:attrNameLst>
                                          <p:attrName>ppt_w</p:attrName>
                                        </p:attrNameLst>
                                      </p:cBhvr>
                                      <p:tavLst>
                                        <p:tav tm="0">
                                          <p:val>
                                            <p:fltVal val="0"/>
                                          </p:val>
                                        </p:tav>
                                        <p:tav tm="100000">
                                          <p:val>
                                            <p:strVal val="#ppt_w"/>
                                          </p:val>
                                        </p:tav>
                                      </p:tavLst>
                                    </p:anim>
                                    <p:anim calcmode="lin" valueType="num">
                                      <p:cBhvr>
                                        <p:cTn id="20" dur="1000" fill="hold"/>
                                        <p:tgtEl>
                                          <p:spTgt spid="19"/>
                                        </p:tgtEl>
                                        <p:attrNameLst>
                                          <p:attrName>ppt_h</p:attrName>
                                        </p:attrNameLst>
                                      </p:cBhvr>
                                      <p:tavLst>
                                        <p:tav tm="0">
                                          <p:val>
                                            <p:fltVal val="0"/>
                                          </p:val>
                                        </p:tav>
                                        <p:tav tm="100000">
                                          <p:val>
                                            <p:strVal val="#ppt_h"/>
                                          </p:val>
                                        </p:tav>
                                      </p:tavLst>
                                    </p:anim>
                                    <p:anim calcmode="lin" valueType="num">
                                      <p:cBhvr>
                                        <p:cTn id="21" dur="1000" fill="hold"/>
                                        <p:tgtEl>
                                          <p:spTgt spid="19"/>
                                        </p:tgtEl>
                                        <p:attrNameLst>
                                          <p:attrName>style.rotation</p:attrName>
                                        </p:attrNameLst>
                                      </p:cBhvr>
                                      <p:tavLst>
                                        <p:tav tm="0">
                                          <p:val>
                                            <p:fltVal val="90"/>
                                          </p:val>
                                        </p:tav>
                                        <p:tav tm="100000">
                                          <p:val>
                                            <p:fltVal val="0"/>
                                          </p:val>
                                        </p:tav>
                                      </p:tavLst>
                                    </p:anim>
                                    <p:animEffect transition="in" filter="fade">
                                      <p:cBhvr>
                                        <p:cTn id="22" dur="1000"/>
                                        <p:tgtEl>
                                          <p:spTgt spid="19"/>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p:cTn id="25" dur="1000" fill="hold"/>
                                        <p:tgtEl>
                                          <p:spTgt spid="21"/>
                                        </p:tgtEl>
                                        <p:attrNameLst>
                                          <p:attrName>ppt_w</p:attrName>
                                        </p:attrNameLst>
                                      </p:cBhvr>
                                      <p:tavLst>
                                        <p:tav tm="0">
                                          <p:val>
                                            <p:fltVal val="0"/>
                                          </p:val>
                                        </p:tav>
                                        <p:tav tm="100000">
                                          <p:val>
                                            <p:strVal val="#ppt_w"/>
                                          </p:val>
                                        </p:tav>
                                      </p:tavLst>
                                    </p:anim>
                                    <p:anim calcmode="lin" valueType="num">
                                      <p:cBhvr>
                                        <p:cTn id="26" dur="1000" fill="hold"/>
                                        <p:tgtEl>
                                          <p:spTgt spid="21"/>
                                        </p:tgtEl>
                                        <p:attrNameLst>
                                          <p:attrName>ppt_h</p:attrName>
                                        </p:attrNameLst>
                                      </p:cBhvr>
                                      <p:tavLst>
                                        <p:tav tm="0">
                                          <p:val>
                                            <p:fltVal val="0"/>
                                          </p:val>
                                        </p:tav>
                                        <p:tav tm="100000">
                                          <p:val>
                                            <p:strVal val="#ppt_h"/>
                                          </p:val>
                                        </p:tav>
                                      </p:tavLst>
                                    </p:anim>
                                    <p:anim calcmode="lin" valueType="num">
                                      <p:cBhvr>
                                        <p:cTn id="27" dur="1000" fill="hold"/>
                                        <p:tgtEl>
                                          <p:spTgt spid="21"/>
                                        </p:tgtEl>
                                        <p:attrNameLst>
                                          <p:attrName>style.rotation</p:attrName>
                                        </p:attrNameLst>
                                      </p:cBhvr>
                                      <p:tavLst>
                                        <p:tav tm="0">
                                          <p:val>
                                            <p:fltVal val="90"/>
                                          </p:val>
                                        </p:tav>
                                        <p:tav tm="100000">
                                          <p:val>
                                            <p:fltVal val="0"/>
                                          </p:val>
                                        </p:tav>
                                      </p:tavLst>
                                    </p:anim>
                                    <p:animEffect transition="in" filter="fade">
                                      <p:cBhvr>
                                        <p:cTn id="28" dur="1000"/>
                                        <p:tgtEl>
                                          <p:spTgt spid="21"/>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p:cTn id="31" dur="1000" fill="hold"/>
                                        <p:tgtEl>
                                          <p:spTgt spid="25"/>
                                        </p:tgtEl>
                                        <p:attrNameLst>
                                          <p:attrName>ppt_w</p:attrName>
                                        </p:attrNameLst>
                                      </p:cBhvr>
                                      <p:tavLst>
                                        <p:tav tm="0">
                                          <p:val>
                                            <p:fltVal val="0"/>
                                          </p:val>
                                        </p:tav>
                                        <p:tav tm="100000">
                                          <p:val>
                                            <p:strVal val="#ppt_w"/>
                                          </p:val>
                                        </p:tav>
                                      </p:tavLst>
                                    </p:anim>
                                    <p:anim calcmode="lin" valueType="num">
                                      <p:cBhvr>
                                        <p:cTn id="32" dur="1000" fill="hold"/>
                                        <p:tgtEl>
                                          <p:spTgt spid="25"/>
                                        </p:tgtEl>
                                        <p:attrNameLst>
                                          <p:attrName>ppt_h</p:attrName>
                                        </p:attrNameLst>
                                      </p:cBhvr>
                                      <p:tavLst>
                                        <p:tav tm="0">
                                          <p:val>
                                            <p:fltVal val="0"/>
                                          </p:val>
                                        </p:tav>
                                        <p:tav tm="100000">
                                          <p:val>
                                            <p:strVal val="#ppt_h"/>
                                          </p:val>
                                        </p:tav>
                                      </p:tavLst>
                                    </p:anim>
                                    <p:anim calcmode="lin" valueType="num">
                                      <p:cBhvr>
                                        <p:cTn id="33" dur="1000" fill="hold"/>
                                        <p:tgtEl>
                                          <p:spTgt spid="25"/>
                                        </p:tgtEl>
                                        <p:attrNameLst>
                                          <p:attrName>style.rotation</p:attrName>
                                        </p:attrNameLst>
                                      </p:cBhvr>
                                      <p:tavLst>
                                        <p:tav tm="0">
                                          <p:val>
                                            <p:fltVal val="90"/>
                                          </p:val>
                                        </p:tav>
                                        <p:tav tm="100000">
                                          <p:val>
                                            <p:fltVal val="0"/>
                                          </p:val>
                                        </p:tav>
                                      </p:tavLst>
                                    </p:anim>
                                    <p:animEffect transition="in" filter="fade">
                                      <p:cBhvr>
                                        <p:cTn id="34" dur="1000"/>
                                        <p:tgtEl>
                                          <p:spTgt spid="25"/>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p:cTn id="37" dur="1000" fill="hold"/>
                                        <p:tgtEl>
                                          <p:spTgt spid="26"/>
                                        </p:tgtEl>
                                        <p:attrNameLst>
                                          <p:attrName>ppt_w</p:attrName>
                                        </p:attrNameLst>
                                      </p:cBhvr>
                                      <p:tavLst>
                                        <p:tav tm="0">
                                          <p:val>
                                            <p:fltVal val="0"/>
                                          </p:val>
                                        </p:tav>
                                        <p:tav tm="100000">
                                          <p:val>
                                            <p:strVal val="#ppt_w"/>
                                          </p:val>
                                        </p:tav>
                                      </p:tavLst>
                                    </p:anim>
                                    <p:anim calcmode="lin" valueType="num">
                                      <p:cBhvr>
                                        <p:cTn id="38" dur="1000" fill="hold"/>
                                        <p:tgtEl>
                                          <p:spTgt spid="26"/>
                                        </p:tgtEl>
                                        <p:attrNameLst>
                                          <p:attrName>ppt_h</p:attrName>
                                        </p:attrNameLst>
                                      </p:cBhvr>
                                      <p:tavLst>
                                        <p:tav tm="0">
                                          <p:val>
                                            <p:fltVal val="0"/>
                                          </p:val>
                                        </p:tav>
                                        <p:tav tm="100000">
                                          <p:val>
                                            <p:strVal val="#ppt_h"/>
                                          </p:val>
                                        </p:tav>
                                      </p:tavLst>
                                    </p:anim>
                                    <p:anim calcmode="lin" valueType="num">
                                      <p:cBhvr>
                                        <p:cTn id="39" dur="1000" fill="hold"/>
                                        <p:tgtEl>
                                          <p:spTgt spid="26"/>
                                        </p:tgtEl>
                                        <p:attrNameLst>
                                          <p:attrName>style.rotation</p:attrName>
                                        </p:attrNameLst>
                                      </p:cBhvr>
                                      <p:tavLst>
                                        <p:tav tm="0">
                                          <p:val>
                                            <p:fltVal val="90"/>
                                          </p:val>
                                        </p:tav>
                                        <p:tav tm="100000">
                                          <p:val>
                                            <p:fltVal val="0"/>
                                          </p:val>
                                        </p:tav>
                                      </p:tavLst>
                                    </p:anim>
                                    <p:animEffect transition="in" filter="fade">
                                      <p:cBhvr>
                                        <p:cTn id="40" dur="1000"/>
                                        <p:tgtEl>
                                          <p:spTgt spid="26"/>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1000" fill="hold"/>
                                        <p:tgtEl>
                                          <p:spTgt spid="24"/>
                                        </p:tgtEl>
                                        <p:attrNameLst>
                                          <p:attrName>ppt_w</p:attrName>
                                        </p:attrNameLst>
                                      </p:cBhvr>
                                      <p:tavLst>
                                        <p:tav tm="0">
                                          <p:val>
                                            <p:fltVal val="0"/>
                                          </p:val>
                                        </p:tav>
                                        <p:tav tm="100000">
                                          <p:val>
                                            <p:strVal val="#ppt_w"/>
                                          </p:val>
                                        </p:tav>
                                      </p:tavLst>
                                    </p:anim>
                                    <p:anim calcmode="lin" valueType="num">
                                      <p:cBhvr>
                                        <p:cTn id="44" dur="1000" fill="hold"/>
                                        <p:tgtEl>
                                          <p:spTgt spid="24"/>
                                        </p:tgtEl>
                                        <p:attrNameLst>
                                          <p:attrName>ppt_h</p:attrName>
                                        </p:attrNameLst>
                                      </p:cBhvr>
                                      <p:tavLst>
                                        <p:tav tm="0">
                                          <p:val>
                                            <p:fltVal val="0"/>
                                          </p:val>
                                        </p:tav>
                                        <p:tav tm="100000">
                                          <p:val>
                                            <p:strVal val="#ppt_h"/>
                                          </p:val>
                                        </p:tav>
                                      </p:tavLst>
                                    </p:anim>
                                    <p:anim calcmode="lin" valueType="num">
                                      <p:cBhvr>
                                        <p:cTn id="45" dur="1000" fill="hold"/>
                                        <p:tgtEl>
                                          <p:spTgt spid="24"/>
                                        </p:tgtEl>
                                        <p:attrNameLst>
                                          <p:attrName>style.rotation</p:attrName>
                                        </p:attrNameLst>
                                      </p:cBhvr>
                                      <p:tavLst>
                                        <p:tav tm="0">
                                          <p:val>
                                            <p:fltVal val="90"/>
                                          </p:val>
                                        </p:tav>
                                        <p:tav tm="100000">
                                          <p:val>
                                            <p:fltVal val="0"/>
                                          </p:val>
                                        </p:tav>
                                      </p:tavLst>
                                    </p:anim>
                                    <p:animEffect transition="in" filter="fade">
                                      <p:cBhvr>
                                        <p:cTn id="46" dur="1000"/>
                                        <p:tgtEl>
                                          <p:spTgt spid="24"/>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p:cTn id="49" dur="1000" fill="hold"/>
                                        <p:tgtEl>
                                          <p:spTgt spid="20"/>
                                        </p:tgtEl>
                                        <p:attrNameLst>
                                          <p:attrName>ppt_w</p:attrName>
                                        </p:attrNameLst>
                                      </p:cBhvr>
                                      <p:tavLst>
                                        <p:tav tm="0">
                                          <p:val>
                                            <p:fltVal val="0"/>
                                          </p:val>
                                        </p:tav>
                                        <p:tav tm="100000">
                                          <p:val>
                                            <p:strVal val="#ppt_w"/>
                                          </p:val>
                                        </p:tav>
                                      </p:tavLst>
                                    </p:anim>
                                    <p:anim calcmode="lin" valueType="num">
                                      <p:cBhvr>
                                        <p:cTn id="50" dur="1000" fill="hold"/>
                                        <p:tgtEl>
                                          <p:spTgt spid="20"/>
                                        </p:tgtEl>
                                        <p:attrNameLst>
                                          <p:attrName>ppt_h</p:attrName>
                                        </p:attrNameLst>
                                      </p:cBhvr>
                                      <p:tavLst>
                                        <p:tav tm="0">
                                          <p:val>
                                            <p:fltVal val="0"/>
                                          </p:val>
                                        </p:tav>
                                        <p:tav tm="100000">
                                          <p:val>
                                            <p:strVal val="#ppt_h"/>
                                          </p:val>
                                        </p:tav>
                                      </p:tavLst>
                                    </p:anim>
                                    <p:anim calcmode="lin" valueType="num">
                                      <p:cBhvr>
                                        <p:cTn id="51" dur="1000" fill="hold"/>
                                        <p:tgtEl>
                                          <p:spTgt spid="20"/>
                                        </p:tgtEl>
                                        <p:attrNameLst>
                                          <p:attrName>style.rotation</p:attrName>
                                        </p:attrNameLst>
                                      </p:cBhvr>
                                      <p:tavLst>
                                        <p:tav tm="0">
                                          <p:val>
                                            <p:fltVal val="90"/>
                                          </p:val>
                                        </p:tav>
                                        <p:tav tm="100000">
                                          <p:val>
                                            <p:fltVal val="0"/>
                                          </p:val>
                                        </p:tav>
                                      </p:tavLst>
                                    </p:anim>
                                    <p:animEffect transition="in" filter="fade">
                                      <p:cBhvr>
                                        <p:cTn id="52" dur="1000"/>
                                        <p:tgtEl>
                                          <p:spTgt spid="20"/>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 calcmode="lin" valueType="num">
                                      <p:cBhvr>
                                        <p:cTn id="55" dur="1000" fill="hold"/>
                                        <p:tgtEl>
                                          <p:spTgt spid="30"/>
                                        </p:tgtEl>
                                        <p:attrNameLst>
                                          <p:attrName>ppt_w</p:attrName>
                                        </p:attrNameLst>
                                      </p:cBhvr>
                                      <p:tavLst>
                                        <p:tav tm="0">
                                          <p:val>
                                            <p:fltVal val="0"/>
                                          </p:val>
                                        </p:tav>
                                        <p:tav tm="100000">
                                          <p:val>
                                            <p:strVal val="#ppt_w"/>
                                          </p:val>
                                        </p:tav>
                                      </p:tavLst>
                                    </p:anim>
                                    <p:anim calcmode="lin" valueType="num">
                                      <p:cBhvr>
                                        <p:cTn id="56" dur="1000" fill="hold"/>
                                        <p:tgtEl>
                                          <p:spTgt spid="30"/>
                                        </p:tgtEl>
                                        <p:attrNameLst>
                                          <p:attrName>ppt_h</p:attrName>
                                        </p:attrNameLst>
                                      </p:cBhvr>
                                      <p:tavLst>
                                        <p:tav tm="0">
                                          <p:val>
                                            <p:fltVal val="0"/>
                                          </p:val>
                                        </p:tav>
                                        <p:tav tm="100000">
                                          <p:val>
                                            <p:strVal val="#ppt_h"/>
                                          </p:val>
                                        </p:tav>
                                      </p:tavLst>
                                    </p:anim>
                                    <p:anim calcmode="lin" valueType="num">
                                      <p:cBhvr>
                                        <p:cTn id="57" dur="1000" fill="hold"/>
                                        <p:tgtEl>
                                          <p:spTgt spid="30"/>
                                        </p:tgtEl>
                                        <p:attrNameLst>
                                          <p:attrName>style.rotation</p:attrName>
                                        </p:attrNameLst>
                                      </p:cBhvr>
                                      <p:tavLst>
                                        <p:tav tm="0">
                                          <p:val>
                                            <p:fltVal val="90"/>
                                          </p:val>
                                        </p:tav>
                                        <p:tav tm="100000">
                                          <p:val>
                                            <p:fltVal val="0"/>
                                          </p:val>
                                        </p:tav>
                                      </p:tavLst>
                                    </p:anim>
                                    <p:animEffect transition="in" filter="fade">
                                      <p:cBhvr>
                                        <p:cTn id="58" dur="1000"/>
                                        <p:tgtEl>
                                          <p:spTgt spid="30"/>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 calcmode="lin" valueType="num">
                                      <p:cBhvr>
                                        <p:cTn id="61" dur="1000" fill="hold"/>
                                        <p:tgtEl>
                                          <p:spTgt spid="29"/>
                                        </p:tgtEl>
                                        <p:attrNameLst>
                                          <p:attrName>ppt_w</p:attrName>
                                        </p:attrNameLst>
                                      </p:cBhvr>
                                      <p:tavLst>
                                        <p:tav tm="0">
                                          <p:val>
                                            <p:fltVal val="0"/>
                                          </p:val>
                                        </p:tav>
                                        <p:tav tm="100000">
                                          <p:val>
                                            <p:strVal val="#ppt_w"/>
                                          </p:val>
                                        </p:tav>
                                      </p:tavLst>
                                    </p:anim>
                                    <p:anim calcmode="lin" valueType="num">
                                      <p:cBhvr>
                                        <p:cTn id="62" dur="1000" fill="hold"/>
                                        <p:tgtEl>
                                          <p:spTgt spid="29"/>
                                        </p:tgtEl>
                                        <p:attrNameLst>
                                          <p:attrName>ppt_h</p:attrName>
                                        </p:attrNameLst>
                                      </p:cBhvr>
                                      <p:tavLst>
                                        <p:tav tm="0">
                                          <p:val>
                                            <p:fltVal val="0"/>
                                          </p:val>
                                        </p:tav>
                                        <p:tav tm="100000">
                                          <p:val>
                                            <p:strVal val="#ppt_h"/>
                                          </p:val>
                                        </p:tav>
                                      </p:tavLst>
                                    </p:anim>
                                    <p:anim calcmode="lin" valueType="num">
                                      <p:cBhvr>
                                        <p:cTn id="63" dur="1000" fill="hold"/>
                                        <p:tgtEl>
                                          <p:spTgt spid="29"/>
                                        </p:tgtEl>
                                        <p:attrNameLst>
                                          <p:attrName>style.rotation</p:attrName>
                                        </p:attrNameLst>
                                      </p:cBhvr>
                                      <p:tavLst>
                                        <p:tav tm="0">
                                          <p:val>
                                            <p:fltVal val="90"/>
                                          </p:val>
                                        </p:tav>
                                        <p:tav tm="100000">
                                          <p:val>
                                            <p:fltVal val="0"/>
                                          </p:val>
                                        </p:tav>
                                      </p:tavLst>
                                    </p:anim>
                                    <p:animEffect transition="in" filter="fade">
                                      <p:cBhvr>
                                        <p:cTn id="64" dur="1000"/>
                                        <p:tgtEl>
                                          <p:spTgt spid="29"/>
                                        </p:tgtEl>
                                      </p:cBhvr>
                                    </p:animEffect>
                                  </p:childTnLst>
                                </p:cTn>
                              </p:par>
                              <p:par>
                                <p:cTn id="65" presetID="31"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 calcmode="lin" valueType="num">
                                      <p:cBhvr>
                                        <p:cTn id="67" dur="1000" fill="hold"/>
                                        <p:tgtEl>
                                          <p:spTgt spid="27"/>
                                        </p:tgtEl>
                                        <p:attrNameLst>
                                          <p:attrName>ppt_w</p:attrName>
                                        </p:attrNameLst>
                                      </p:cBhvr>
                                      <p:tavLst>
                                        <p:tav tm="0">
                                          <p:val>
                                            <p:fltVal val="0"/>
                                          </p:val>
                                        </p:tav>
                                        <p:tav tm="100000">
                                          <p:val>
                                            <p:strVal val="#ppt_w"/>
                                          </p:val>
                                        </p:tav>
                                      </p:tavLst>
                                    </p:anim>
                                    <p:anim calcmode="lin" valueType="num">
                                      <p:cBhvr>
                                        <p:cTn id="68" dur="1000" fill="hold"/>
                                        <p:tgtEl>
                                          <p:spTgt spid="27"/>
                                        </p:tgtEl>
                                        <p:attrNameLst>
                                          <p:attrName>ppt_h</p:attrName>
                                        </p:attrNameLst>
                                      </p:cBhvr>
                                      <p:tavLst>
                                        <p:tav tm="0">
                                          <p:val>
                                            <p:fltVal val="0"/>
                                          </p:val>
                                        </p:tav>
                                        <p:tav tm="100000">
                                          <p:val>
                                            <p:strVal val="#ppt_h"/>
                                          </p:val>
                                        </p:tav>
                                      </p:tavLst>
                                    </p:anim>
                                    <p:anim calcmode="lin" valueType="num">
                                      <p:cBhvr>
                                        <p:cTn id="69" dur="1000" fill="hold"/>
                                        <p:tgtEl>
                                          <p:spTgt spid="27"/>
                                        </p:tgtEl>
                                        <p:attrNameLst>
                                          <p:attrName>style.rotation</p:attrName>
                                        </p:attrNameLst>
                                      </p:cBhvr>
                                      <p:tavLst>
                                        <p:tav tm="0">
                                          <p:val>
                                            <p:fltVal val="90"/>
                                          </p:val>
                                        </p:tav>
                                        <p:tav tm="100000">
                                          <p:val>
                                            <p:fltVal val="0"/>
                                          </p:val>
                                        </p:tav>
                                      </p:tavLst>
                                    </p:anim>
                                    <p:animEffect transition="in" filter="fade">
                                      <p:cBhvr>
                                        <p:cTn id="70" dur="1000"/>
                                        <p:tgtEl>
                                          <p:spTgt spid="27"/>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 calcmode="lin" valueType="num">
                                      <p:cBhvr>
                                        <p:cTn id="73" dur="1000" fill="hold"/>
                                        <p:tgtEl>
                                          <p:spTgt spid="28"/>
                                        </p:tgtEl>
                                        <p:attrNameLst>
                                          <p:attrName>ppt_w</p:attrName>
                                        </p:attrNameLst>
                                      </p:cBhvr>
                                      <p:tavLst>
                                        <p:tav tm="0">
                                          <p:val>
                                            <p:fltVal val="0"/>
                                          </p:val>
                                        </p:tav>
                                        <p:tav tm="100000">
                                          <p:val>
                                            <p:strVal val="#ppt_w"/>
                                          </p:val>
                                        </p:tav>
                                      </p:tavLst>
                                    </p:anim>
                                    <p:anim calcmode="lin" valueType="num">
                                      <p:cBhvr>
                                        <p:cTn id="74" dur="1000" fill="hold"/>
                                        <p:tgtEl>
                                          <p:spTgt spid="28"/>
                                        </p:tgtEl>
                                        <p:attrNameLst>
                                          <p:attrName>ppt_h</p:attrName>
                                        </p:attrNameLst>
                                      </p:cBhvr>
                                      <p:tavLst>
                                        <p:tav tm="0">
                                          <p:val>
                                            <p:fltVal val="0"/>
                                          </p:val>
                                        </p:tav>
                                        <p:tav tm="100000">
                                          <p:val>
                                            <p:strVal val="#ppt_h"/>
                                          </p:val>
                                        </p:tav>
                                      </p:tavLst>
                                    </p:anim>
                                    <p:anim calcmode="lin" valueType="num">
                                      <p:cBhvr>
                                        <p:cTn id="75" dur="1000" fill="hold"/>
                                        <p:tgtEl>
                                          <p:spTgt spid="28"/>
                                        </p:tgtEl>
                                        <p:attrNameLst>
                                          <p:attrName>style.rotation</p:attrName>
                                        </p:attrNameLst>
                                      </p:cBhvr>
                                      <p:tavLst>
                                        <p:tav tm="0">
                                          <p:val>
                                            <p:fltVal val="90"/>
                                          </p:val>
                                        </p:tav>
                                        <p:tav tm="100000">
                                          <p:val>
                                            <p:fltVal val="0"/>
                                          </p:val>
                                        </p:tav>
                                      </p:tavLst>
                                    </p:anim>
                                    <p:animEffect transition="in" filter="fade">
                                      <p:cBhvr>
                                        <p:cTn id="76" dur="1000"/>
                                        <p:tgtEl>
                                          <p:spTgt spid="28"/>
                                        </p:tgtEl>
                                      </p:cBhvr>
                                    </p:animEffect>
                                  </p:childTnLst>
                                </p:cTn>
                              </p:par>
                              <p:par>
                                <p:cTn id="77" presetID="31"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p:cTn id="79" dur="1000" fill="hold"/>
                                        <p:tgtEl>
                                          <p:spTgt spid="23"/>
                                        </p:tgtEl>
                                        <p:attrNameLst>
                                          <p:attrName>ppt_w</p:attrName>
                                        </p:attrNameLst>
                                      </p:cBhvr>
                                      <p:tavLst>
                                        <p:tav tm="0">
                                          <p:val>
                                            <p:fltVal val="0"/>
                                          </p:val>
                                        </p:tav>
                                        <p:tav tm="100000">
                                          <p:val>
                                            <p:strVal val="#ppt_w"/>
                                          </p:val>
                                        </p:tav>
                                      </p:tavLst>
                                    </p:anim>
                                    <p:anim calcmode="lin" valueType="num">
                                      <p:cBhvr>
                                        <p:cTn id="80" dur="1000" fill="hold"/>
                                        <p:tgtEl>
                                          <p:spTgt spid="23"/>
                                        </p:tgtEl>
                                        <p:attrNameLst>
                                          <p:attrName>ppt_h</p:attrName>
                                        </p:attrNameLst>
                                      </p:cBhvr>
                                      <p:tavLst>
                                        <p:tav tm="0">
                                          <p:val>
                                            <p:fltVal val="0"/>
                                          </p:val>
                                        </p:tav>
                                        <p:tav tm="100000">
                                          <p:val>
                                            <p:strVal val="#ppt_h"/>
                                          </p:val>
                                        </p:tav>
                                      </p:tavLst>
                                    </p:anim>
                                    <p:anim calcmode="lin" valueType="num">
                                      <p:cBhvr>
                                        <p:cTn id="81" dur="1000" fill="hold"/>
                                        <p:tgtEl>
                                          <p:spTgt spid="23"/>
                                        </p:tgtEl>
                                        <p:attrNameLst>
                                          <p:attrName>style.rotation</p:attrName>
                                        </p:attrNameLst>
                                      </p:cBhvr>
                                      <p:tavLst>
                                        <p:tav tm="0">
                                          <p:val>
                                            <p:fltVal val="90"/>
                                          </p:val>
                                        </p:tav>
                                        <p:tav tm="100000">
                                          <p:val>
                                            <p:fltVal val="0"/>
                                          </p:val>
                                        </p:tav>
                                      </p:tavLst>
                                    </p:anim>
                                    <p:animEffect transition="in" filter="fade">
                                      <p:cBhvr>
                                        <p:cTn id="82" dur="1000"/>
                                        <p:tgtEl>
                                          <p:spTgt spid="23"/>
                                        </p:tgtEl>
                                      </p:cBhvr>
                                    </p:animEffect>
                                  </p:childTnLst>
                                </p:cTn>
                              </p:par>
                              <p:par>
                                <p:cTn id="83" presetID="31"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 calcmode="lin" valueType="num">
                                      <p:cBhvr>
                                        <p:cTn id="85" dur="1000" fill="hold"/>
                                        <p:tgtEl>
                                          <p:spTgt spid="22"/>
                                        </p:tgtEl>
                                        <p:attrNameLst>
                                          <p:attrName>ppt_w</p:attrName>
                                        </p:attrNameLst>
                                      </p:cBhvr>
                                      <p:tavLst>
                                        <p:tav tm="0">
                                          <p:val>
                                            <p:fltVal val="0"/>
                                          </p:val>
                                        </p:tav>
                                        <p:tav tm="100000">
                                          <p:val>
                                            <p:strVal val="#ppt_w"/>
                                          </p:val>
                                        </p:tav>
                                      </p:tavLst>
                                    </p:anim>
                                    <p:anim calcmode="lin" valueType="num">
                                      <p:cBhvr>
                                        <p:cTn id="86" dur="1000" fill="hold"/>
                                        <p:tgtEl>
                                          <p:spTgt spid="22"/>
                                        </p:tgtEl>
                                        <p:attrNameLst>
                                          <p:attrName>ppt_h</p:attrName>
                                        </p:attrNameLst>
                                      </p:cBhvr>
                                      <p:tavLst>
                                        <p:tav tm="0">
                                          <p:val>
                                            <p:fltVal val="0"/>
                                          </p:val>
                                        </p:tav>
                                        <p:tav tm="100000">
                                          <p:val>
                                            <p:strVal val="#ppt_h"/>
                                          </p:val>
                                        </p:tav>
                                      </p:tavLst>
                                    </p:anim>
                                    <p:anim calcmode="lin" valueType="num">
                                      <p:cBhvr>
                                        <p:cTn id="87" dur="1000" fill="hold"/>
                                        <p:tgtEl>
                                          <p:spTgt spid="22"/>
                                        </p:tgtEl>
                                        <p:attrNameLst>
                                          <p:attrName>style.rotation</p:attrName>
                                        </p:attrNameLst>
                                      </p:cBhvr>
                                      <p:tavLst>
                                        <p:tav tm="0">
                                          <p:val>
                                            <p:fltVal val="90"/>
                                          </p:val>
                                        </p:tav>
                                        <p:tav tm="100000">
                                          <p:val>
                                            <p:fltVal val="0"/>
                                          </p:val>
                                        </p:tav>
                                      </p:tavLst>
                                    </p:anim>
                                    <p:animEffect transition="in" filter="fade">
                                      <p:cBhvr>
                                        <p:cTn id="88" dur="1000"/>
                                        <p:tgtEl>
                                          <p:spTgt spid="22"/>
                                        </p:tgtEl>
                                      </p:cBhvr>
                                    </p:animEffect>
                                  </p:childTnLst>
                                </p:cTn>
                              </p:par>
                            </p:childTnLst>
                          </p:cTn>
                        </p:par>
                        <p:par>
                          <p:cTn id="89" fill="hold">
                            <p:stCondLst>
                              <p:cond delay="1000"/>
                            </p:stCondLst>
                            <p:childTnLst>
                              <p:par>
                                <p:cTn id="90" presetID="22" presetClass="entr" presetSubtype="4" fill="hold" grpId="0" nodeType="afterEffect">
                                  <p:stCondLst>
                                    <p:cond delay="0"/>
                                  </p:stCondLst>
                                  <p:childTnLst>
                                    <p:set>
                                      <p:cBhvr>
                                        <p:cTn id="91" dur="1" fill="hold">
                                          <p:stCondLst>
                                            <p:cond delay="0"/>
                                          </p:stCondLst>
                                        </p:cTn>
                                        <p:tgtEl>
                                          <p:spTgt spid="55"/>
                                        </p:tgtEl>
                                        <p:attrNameLst>
                                          <p:attrName>style.visibility</p:attrName>
                                        </p:attrNameLst>
                                      </p:cBhvr>
                                      <p:to>
                                        <p:strVal val="visible"/>
                                      </p:to>
                                    </p:set>
                                    <p:animEffect transition="in" filter="wipe(down)">
                                      <p:cBhvr>
                                        <p:cTn id="92" dur="500"/>
                                        <p:tgtEl>
                                          <p:spTgt spid="55"/>
                                        </p:tgtEl>
                                      </p:cBhvr>
                                    </p:animEffect>
                                  </p:childTnLst>
                                </p:cTn>
                              </p:par>
                              <p:par>
                                <p:cTn id="93" presetID="22" presetClass="entr" presetSubtype="4"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wipe(down)">
                                      <p:cBhvr>
                                        <p:cTn id="95" dur="500"/>
                                        <p:tgtEl>
                                          <p:spTgt spid="31"/>
                                        </p:tgtEl>
                                      </p:cBhvr>
                                    </p:animEffect>
                                  </p:childTnLst>
                                </p:cTn>
                              </p:par>
                              <p:par>
                                <p:cTn id="96" presetID="22" presetClass="entr" presetSubtype="4" fill="hold" grpId="0" nodeType="with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wipe(down)">
                                      <p:cBhvr>
                                        <p:cTn id="98" dur="500"/>
                                        <p:tgtEl>
                                          <p:spTgt spid="41"/>
                                        </p:tgtEl>
                                      </p:cBhvr>
                                    </p:animEffect>
                                  </p:childTnLst>
                                </p:cTn>
                              </p:par>
                              <p:par>
                                <p:cTn id="99" presetID="22" presetClass="entr" presetSubtype="4" fill="hold" grpId="0" nodeType="with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wipe(down)">
                                      <p:cBhvr>
                                        <p:cTn id="101" dur="500"/>
                                        <p:tgtEl>
                                          <p:spTgt spid="40"/>
                                        </p:tgtEl>
                                      </p:cBhvr>
                                    </p:animEffect>
                                  </p:childTnLst>
                                </p:cTn>
                              </p:par>
                              <p:par>
                                <p:cTn id="102" presetID="22" presetClass="entr" presetSubtype="4"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wipe(down)">
                                      <p:cBhvr>
                                        <p:cTn id="104" dur="500"/>
                                        <p:tgtEl>
                                          <p:spTgt spid="32"/>
                                        </p:tgtEl>
                                      </p:cBhvr>
                                    </p:animEffect>
                                  </p:childTnLst>
                                </p:cTn>
                              </p:par>
                              <p:par>
                                <p:cTn id="105" presetID="22" presetClass="entr" presetSubtype="4" fill="hold" grpId="0" nodeType="with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wipe(down)">
                                      <p:cBhvr>
                                        <p:cTn id="107" dur="500"/>
                                        <p:tgtEl>
                                          <p:spTgt spid="33"/>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39"/>
                                        </p:tgtEl>
                                        <p:attrNameLst>
                                          <p:attrName>style.visibility</p:attrName>
                                        </p:attrNameLst>
                                      </p:cBhvr>
                                      <p:to>
                                        <p:strVal val="visible"/>
                                      </p:to>
                                    </p:set>
                                    <p:animEffect transition="in" filter="wipe(down)">
                                      <p:cBhvr>
                                        <p:cTn id="110" dur="500"/>
                                        <p:tgtEl>
                                          <p:spTgt spid="39"/>
                                        </p:tgtEl>
                                      </p:cBhvr>
                                    </p:animEffect>
                                  </p:childTnLst>
                                </p:cTn>
                              </p:par>
                              <p:par>
                                <p:cTn id="111" presetID="22" presetClass="entr" presetSubtype="4" fill="hold" grpId="0"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wipe(down)">
                                      <p:cBhvr>
                                        <p:cTn id="113" dur="500"/>
                                        <p:tgtEl>
                                          <p:spTgt spid="38"/>
                                        </p:tgtEl>
                                      </p:cBhvr>
                                    </p:animEffect>
                                  </p:childTnLst>
                                </p:cTn>
                              </p:par>
                              <p:par>
                                <p:cTn id="114" presetID="22" presetClass="entr" presetSubtype="4"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wipe(down)">
                                      <p:cBhvr>
                                        <p:cTn id="116" dur="500"/>
                                        <p:tgtEl>
                                          <p:spTgt spid="51"/>
                                        </p:tgtEl>
                                      </p:cBhvr>
                                    </p:animEffect>
                                  </p:childTnLst>
                                </p:cTn>
                              </p:par>
                              <p:par>
                                <p:cTn id="117" presetID="22" presetClass="entr" presetSubtype="4"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wipe(down)">
                                      <p:cBhvr>
                                        <p:cTn id="119" dur="500"/>
                                        <p:tgtEl>
                                          <p:spTgt spid="44"/>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35"/>
                                        </p:tgtEl>
                                        <p:attrNameLst>
                                          <p:attrName>style.visibility</p:attrName>
                                        </p:attrNameLst>
                                      </p:cBhvr>
                                      <p:to>
                                        <p:strVal val="visible"/>
                                      </p:to>
                                    </p:set>
                                    <p:animEffect transition="in" filter="wipe(down)">
                                      <p:cBhvr>
                                        <p:cTn id="122" dur="500"/>
                                        <p:tgtEl>
                                          <p:spTgt spid="35"/>
                                        </p:tgtEl>
                                      </p:cBhvr>
                                    </p:animEffect>
                                  </p:childTnLst>
                                </p:cTn>
                              </p:par>
                              <p:par>
                                <p:cTn id="123" presetID="22" presetClass="entr" presetSubtype="4" fill="hold" grpId="0" nodeType="withEffect">
                                  <p:stCondLst>
                                    <p:cond delay="0"/>
                                  </p:stCondLst>
                                  <p:childTnLst>
                                    <p:set>
                                      <p:cBhvr>
                                        <p:cTn id="124" dur="1" fill="hold">
                                          <p:stCondLst>
                                            <p:cond delay="0"/>
                                          </p:stCondLst>
                                        </p:cTn>
                                        <p:tgtEl>
                                          <p:spTgt spid="56"/>
                                        </p:tgtEl>
                                        <p:attrNameLst>
                                          <p:attrName>style.visibility</p:attrName>
                                        </p:attrNameLst>
                                      </p:cBhvr>
                                      <p:to>
                                        <p:strVal val="visible"/>
                                      </p:to>
                                    </p:set>
                                    <p:animEffect transition="in" filter="wipe(down)">
                                      <p:cBhvr>
                                        <p:cTn id="125" dur="500"/>
                                        <p:tgtEl>
                                          <p:spTgt spid="56"/>
                                        </p:tgtEl>
                                      </p:cBhvr>
                                    </p:animEffect>
                                  </p:childTnLst>
                                </p:cTn>
                              </p:par>
                              <p:par>
                                <p:cTn id="126" presetID="22" presetClass="entr" presetSubtype="4" fill="hold" grpId="0" nodeType="with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wipe(down)">
                                      <p:cBhvr>
                                        <p:cTn id="128" dur="500"/>
                                        <p:tgtEl>
                                          <p:spTgt spid="49"/>
                                        </p:tgtEl>
                                      </p:cBhvr>
                                    </p:animEffect>
                                  </p:childTnLst>
                                </p:cTn>
                              </p:par>
                              <p:par>
                                <p:cTn id="129" presetID="22" presetClass="entr" presetSubtype="4" fill="hold" grpId="0" nodeType="withEffect">
                                  <p:stCondLst>
                                    <p:cond delay="0"/>
                                  </p:stCondLst>
                                  <p:childTnLst>
                                    <p:set>
                                      <p:cBhvr>
                                        <p:cTn id="130" dur="1" fill="hold">
                                          <p:stCondLst>
                                            <p:cond delay="0"/>
                                          </p:stCondLst>
                                        </p:cTn>
                                        <p:tgtEl>
                                          <p:spTgt spid="53"/>
                                        </p:tgtEl>
                                        <p:attrNameLst>
                                          <p:attrName>style.visibility</p:attrName>
                                        </p:attrNameLst>
                                      </p:cBhvr>
                                      <p:to>
                                        <p:strVal val="visible"/>
                                      </p:to>
                                    </p:set>
                                    <p:animEffect transition="in" filter="wipe(down)">
                                      <p:cBhvr>
                                        <p:cTn id="131" dur="500"/>
                                        <p:tgtEl>
                                          <p:spTgt spid="53"/>
                                        </p:tgtEl>
                                      </p:cBhvr>
                                    </p:animEffect>
                                  </p:childTnLst>
                                </p:cTn>
                              </p:par>
                              <p:par>
                                <p:cTn id="132" presetID="22" presetClass="entr" presetSubtype="4"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wipe(down)">
                                      <p:cBhvr>
                                        <p:cTn id="134" dur="500"/>
                                        <p:tgtEl>
                                          <p:spTgt spid="52"/>
                                        </p:tgtEl>
                                      </p:cBhvr>
                                    </p:animEffect>
                                  </p:childTnLst>
                                </p:cTn>
                              </p:par>
                              <p:par>
                                <p:cTn id="135" presetID="22" presetClass="entr" presetSubtype="4" fill="hold" grpId="0" nodeType="withEffect">
                                  <p:stCondLst>
                                    <p:cond delay="0"/>
                                  </p:stCondLst>
                                  <p:childTnLst>
                                    <p:set>
                                      <p:cBhvr>
                                        <p:cTn id="136" dur="1" fill="hold">
                                          <p:stCondLst>
                                            <p:cond delay="0"/>
                                          </p:stCondLst>
                                        </p:cTn>
                                        <p:tgtEl>
                                          <p:spTgt spid="45"/>
                                        </p:tgtEl>
                                        <p:attrNameLst>
                                          <p:attrName>style.visibility</p:attrName>
                                        </p:attrNameLst>
                                      </p:cBhvr>
                                      <p:to>
                                        <p:strVal val="visible"/>
                                      </p:to>
                                    </p:set>
                                    <p:animEffect transition="in" filter="wipe(down)">
                                      <p:cBhvr>
                                        <p:cTn id="137" dur="500"/>
                                        <p:tgtEl>
                                          <p:spTgt spid="45"/>
                                        </p:tgtEl>
                                      </p:cBhvr>
                                    </p:animEffect>
                                  </p:childTnLst>
                                </p:cTn>
                              </p:par>
                              <p:par>
                                <p:cTn id="138" presetID="22" presetClass="entr" presetSubtype="4" fill="hold" grpId="0" nodeType="withEffect">
                                  <p:stCondLst>
                                    <p:cond delay="0"/>
                                  </p:stCondLst>
                                  <p:childTnLst>
                                    <p:set>
                                      <p:cBhvr>
                                        <p:cTn id="139" dur="1" fill="hold">
                                          <p:stCondLst>
                                            <p:cond delay="0"/>
                                          </p:stCondLst>
                                        </p:cTn>
                                        <p:tgtEl>
                                          <p:spTgt spid="47"/>
                                        </p:tgtEl>
                                        <p:attrNameLst>
                                          <p:attrName>style.visibility</p:attrName>
                                        </p:attrNameLst>
                                      </p:cBhvr>
                                      <p:to>
                                        <p:strVal val="visible"/>
                                      </p:to>
                                    </p:set>
                                    <p:animEffect transition="in" filter="wipe(down)">
                                      <p:cBhvr>
                                        <p:cTn id="140" dur="500"/>
                                        <p:tgtEl>
                                          <p:spTgt spid="47"/>
                                        </p:tgtEl>
                                      </p:cBhvr>
                                    </p:animEffect>
                                  </p:childTnLst>
                                </p:cTn>
                              </p:par>
                              <p:par>
                                <p:cTn id="141" presetID="22" presetClass="entr" presetSubtype="4" fill="hold" grpId="0" nodeType="withEffect">
                                  <p:stCondLst>
                                    <p:cond delay="0"/>
                                  </p:stCondLst>
                                  <p:childTnLst>
                                    <p:set>
                                      <p:cBhvr>
                                        <p:cTn id="142" dur="1" fill="hold">
                                          <p:stCondLst>
                                            <p:cond delay="0"/>
                                          </p:stCondLst>
                                        </p:cTn>
                                        <p:tgtEl>
                                          <p:spTgt spid="48"/>
                                        </p:tgtEl>
                                        <p:attrNameLst>
                                          <p:attrName>style.visibility</p:attrName>
                                        </p:attrNameLst>
                                      </p:cBhvr>
                                      <p:to>
                                        <p:strVal val="visible"/>
                                      </p:to>
                                    </p:set>
                                    <p:animEffect transition="in" filter="wipe(down)">
                                      <p:cBhvr>
                                        <p:cTn id="143" dur="500"/>
                                        <p:tgtEl>
                                          <p:spTgt spid="48"/>
                                        </p:tgtEl>
                                      </p:cBhvr>
                                    </p:animEffect>
                                  </p:childTnLst>
                                </p:cTn>
                              </p:par>
                              <p:par>
                                <p:cTn id="144" presetID="22" presetClass="entr" presetSubtype="4" fill="hold" grpId="0" nodeType="withEffect">
                                  <p:stCondLst>
                                    <p:cond delay="0"/>
                                  </p:stCondLst>
                                  <p:childTnLst>
                                    <p:set>
                                      <p:cBhvr>
                                        <p:cTn id="145" dur="1" fill="hold">
                                          <p:stCondLst>
                                            <p:cond delay="0"/>
                                          </p:stCondLst>
                                        </p:cTn>
                                        <p:tgtEl>
                                          <p:spTgt spid="34"/>
                                        </p:tgtEl>
                                        <p:attrNameLst>
                                          <p:attrName>style.visibility</p:attrName>
                                        </p:attrNameLst>
                                      </p:cBhvr>
                                      <p:to>
                                        <p:strVal val="visible"/>
                                      </p:to>
                                    </p:set>
                                    <p:animEffect transition="in" filter="wipe(down)">
                                      <p:cBhvr>
                                        <p:cTn id="146" dur="500"/>
                                        <p:tgtEl>
                                          <p:spTgt spid="34"/>
                                        </p:tgtEl>
                                      </p:cBhvr>
                                    </p:animEffect>
                                  </p:childTnLst>
                                </p:cTn>
                              </p:par>
                              <p:par>
                                <p:cTn id="147" presetID="22" presetClass="entr" presetSubtype="4" fill="hold" grpId="0" nodeType="withEffect">
                                  <p:stCondLst>
                                    <p:cond delay="0"/>
                                  </p:stCondLst>
                                  <p:childTnLst>
                                    <p:set>
                                      <p:cBhvr>
                                        <p:cTn id="148" dur="1" fill="hold">
                                          <p:stCondLst>
                                            <p:cond delay="0"/>
                                          </p:stCondLst>
                                        </p:cTn>
                                        <p:tgtEl>
                                          <p:spTgt spid="36"/>
                                        </p:tgtEl>
                                        <p:attrNameLst>
                                          <p:attrName>style.visibility</p:attrName>
                                        </p:attrNameLst>
                                      </p:cBhvr>
                                      <p:to>
                                        <p:strVal val="visible"/>
                                      </p:to>
                                    </p:set>
                                    <p:animEffect transition="in" filter="wipe(down)">
                                      <p:cBhvr>
                                        <p:cTn id="149" dur="500"/>
                                        <p:tgtEl>
                                          <p:spTgt spid="36"/>
                                        </p:tgtEl>
                                      </p:cBhvr>
                                    </p:animEffect>
                                  </p:childTnLst>
                                </p:cTn>
                              </p:par>
                              <p:par>
                                <p:cTn id="150" presetID="22" presetClass="entr" presetSubtype="4" fill="hold" grpId="0" nodeType="withEffect">
                                  <p:stCondLst>
                                    <p:cond delay="0"/>
                                  </p:stCondLst>
                                  <p:childTnLst>
                                    <p:set>
                                      <p:cBhvr>
                                        <p:cTn id="151" dur="1" fill="hold">
                                          <p:stCondLst>
                                            <p:cond delay="0"/>
                                          </p:stCondLst>
                                        </p:cTn>
                                        <p:tgtEl>
                                          <p:spTgt spid="46"/>
                                        </p:tgtEl>
                                        <p:attrNameLst>
                                          <p:attrName>style.visibility</p:attrName>
                                        </p:attrNameLst>
                                      </p:cBhvr>
                                      <p:to>
                                        <p:strVal val="visible"/>
                                      </p:to>
                                    </p:set>
                                    <p:animEffect transition="in" filter="wipe(down)">
                                      <p:cBhvr>
                                        <p:cTn id="152" dur="500"/>
                                        <p:tgtEl>
                                          <p:spTgt spid="46"/>
                                        </p:tgtEl>
                                      </p:cBhvr>
                                    </p:animEffect>
                                  </p:childTnLst>
                                </p:cTn>
                              </p:par>
                              <p:par>
                                <p:cTn id="153" presetID="22" presetClass="entr" presetSubtype="4" fill="hold" grpId="0" nodeType="withEffect">
                                  <p:stCondLst>
                                    <p:cond delay="0"/>
                                  </p:stCondLst>
                                  <p:childTnLst>
                                    <p:set>
                                      <p:cBhvr>
                                        <p:cTn id="154" dur="1" fill="hold">
                                          <p:stCondLst>
                                            <p:cond delay="0"/>
                                          </p:stCondLst>
                                        </p:cTn>
                                        <p:tgtEl>
                                          <p:spTgt spid="37"/>
                                        </p:tgtEl>
                                        <p:attrNameLst>
                                          <p:attrName>style.visibility</p:attrName>
                                        </p:attrNameLst>
                                      </p:cBhvr>
                                      <p:to>
                                        <p:strVal val="visible"/>
                                      </p:to>
                                    </p:set>
                                    <p:animEffect transition="in" filter="wipe(down)">
                                      <p:cBhvr>
                                        <p:cTn id="155" dur="500"/>
                                        <p:tgtEl>
                                          <p:spTgt spid="37"/>
                                        </p:tgtEl>
                                      </p:cBhvr>
                                    </p:animEffect>
                                  </p:childTnLst>
                                </p:cTn>
                              </p:par>
                              <p:par>
                                <p:cTn id="156" presetID="22" presetClass="entr" presetSubtype="4" fill="hold" grpId="0" nodeType="withEffect">
                                  <p:stCondLst>
                                    <p:cond delay="0"/>
                                  </p:stCondLst>
                                  <p:childTnLst>
                                    <p:set>
                                      <p:cBhvr>
                                        <p:cTn id="157" dur="1" fill="hold">
                                          <p:stCondLst>
                                            <p:cond delay="0"/>
                                          </p:stCondLst>
                                        </p:cTn>
                                        <p:tgtEl>
                                          <p:spTgt spid="50"/>
                                        </p:tgtEl>
                                        <p:attrNameLst>
                                          <p:attrName>style.visibility</p:attrName>
                                        </p:attrNameLst>
                                      </p:cBhvr>
                                      <p:to>
                                        <p:strVal val="visible"/>
                                      </p:to>
                                    </p:set>
                                    <p:animEffect transition="in" filter="wipe(down)">
                                      <p:cBhvr>
                                        <p:cTn id="158" dur="500"/>
                                        <p:tgtEl>
                                          <p:spTgt spid="50"/>
                                        </p:tgtEl>
                                      </p:cBhvr>
                                    </p:animEffect>
                                  </p:childTnLst>
                                </p:cTn>
                              </p:par>
                              <p:par>
                                <p:cTn id="159" presetID="22" presetClass="entr" presetSubtype="4" fill="hold" grpId="0" nodeType="withEffect">
                                  <p:stCondLst>
                                    <p:cond delay="0"/>
                                  </p:stCondLst>
                                  <p:childTnLst>
                                    <p:set>
                                      <p:cBhvr>
                                        <p:cTn id="160" dur="1" fill="hold">
                                          <p:stCondLst>
                                            <p:cond delay="0"/>
                                          </p:stCondLst>
                                        </p:cTn>
                                        <p:tgtEl>
                                          <p:spTgt spid="54"/>
                                        </p:tgtEl>
                                        <p:attrNameLst>
                                          <p:attrName>style.visibility</p:attrName>
                                        </p:attrNameLst>
                                      </p:cBhvr>
                                      <p:to>
                                        <p:strVal val="visible"/>
                                      </p:to>
                                    </p:set>
                                    <p:animEffect transition="in" filter="wipe(down)">
                                      <p:cBhvr>
                                        <p:cTn id="16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4" grpId="0" animBg="1"/>
      <p:bldP spid="45" grpId="0" animBg="1"/>
      <p:bldP spid="46" grpId="0" animBg="1"/>
      <p:bldP spid="47" grpId="0" animBg="1"/>
      <p:bldP spid="48" grpId="0" animBg="1"/>
      <p:bldP spid="49" grpId="0" animBg="1"/>
      <p:bldP spid="30" grpId="0" animBg="1"/>
      <p:bldP spid="28" grpId="0" animBg="1"/>
      <p:bldP spid="3" grpId="0" animBg="1"/>
      <p:bldP spid="4" grpId="0" animBg="1"/>
      <p:bldP spid="50" grpId="0" animBg="1"/>
      <p:bldP spid="19" grpId="0" animBg="1"/>
      <p:bldP spid="51" grpId="0" animBg="1"/>
      <p:bldP spid="52" grpId="0" animBg="1"/>
      <p:bldP spid="29" grpId="0" animBg="1"/>
      <p:bldP spid="53" grpId="0" animBg="1"/>
      <p:bldP spid="27" grpId="0" animBg="1"/>
      <p:bldP spid="26" grpId="0" animBg="1"/>
      <p:bldP spid="25" grpId="0" animBg="1"/>
      <p:bldP spid="54" grpId="0" animBg="1"/>
      <p:bldP spid="21" grpId="0" animBg="1"/>
      <p:bldP spid="20" grpId="0" animBg="1"/>
      <p:bldP spid="55" grpId="0" animBg="1"/>
      <p:bldP spid="22" grpId="0" animBg="1"/>
      <p:bldP spid="56" grpId="0" animBg="1"/>
      <p:bldP spid="24"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5AFB369-4673-4727-A7CD-D86AFE0AE0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8" name="Freeform 14">
              <a:extLst>
                <a:ext uri="{FF2B5EF4-FFF2-40B4-BE49-F238E27FC236}">
                  <a16:creationId xmlns:a16="http://schemas.microsoft.com/office/drawing/2014/main" id="{50709826-4D6B-4A97-8DB3-5DA166626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47263F58-6EE6-45B3-9BF2-C0BD5D30A5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197CE03-EB81-4718-BEA1-C2D488961E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A3451629-72D6-4E33-A99A-40FAF7445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E04F0FD4-BCD5-4435-A6B5-A2E69303B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DE110F09-1C81-4E73-B5E9-D857CD879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273A9C01-06BD-4E8E-8BBF-2E2A9ECF4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B206C9B2-27BE-4B6F-A4D0-485FBBEB5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2E7D673E-0C5C-4F2B-B46E-3E9286B9E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F0F78B34-9B26-4CA9-B8F0-B9638730F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AD777638-F069-6B88-4BE3-7E1157DB10CA}"/>
              </a:ext>
            </a:extLst>
          </p:cNvPr>
          <p:cNvSpPr>
            <a:spLocks noGrp="1"/>
          </p:cNvSpPr>
          <p:nvPr>
            <p:ph type="title"/>
          </p:nvPr>
        </p:nvSpPr>
        <p:spPr>
          <a:xfrm>
            <a:off x="1062781" y="127445"/>
            <a:ext cx="9735220" cy="901069"/>
          </a:xfrm>
        </p:spPr>
        <p:txBody>
          <a:bodyPr vert="horz" lIns="91440" tIns="45720" rIns="91440" bIns="45720" rtlCol="0" anchor="b">
            <a:normAutofit/>
          </a:bodyPr>
          <a:lstStyle/>
          <a:p>
            <a:pPr algn="ctr">
              <a:lnSpc>
                <a:spcPct val="90000"/>
              </a:lnSpc>
            </a:pPr>
            <a:r>
              <a:rPr lang="en-US" sz="5400" b="1">
                <a:solidFill>
                  <a:schemeClr val="tx1"/>
                </a:solidFill>
              </a:rPr>
              <a:t>Branch Network Diagram</a:t>
            </a:r>
            <a:endParaRPr lang="en-US" b="1">
              <a:solidFill>
                <a:schemeClr val="tx1"/>
              </a:solidFill>
            </a:endParaRPr>
          </a:p>
        </p:txBody>
      </p:sp>
      <p:pic>
        <p:nvPicPr>
          <p:cNvPr id="3" name="Picture 2" descr="A diagram of a network&#10;&#10;Description automatically generated">
            <a:extLst>
              <a:ext uri="{FF2B5EF4-FFF2-40B4-BE49-F238E27FC236}">
                <a16:creationId xmlns:a16="http://schemas.microsoft.com/office/drawing/2014/main" id="{E2F4C0AE-1E2D-CEEC-B0AD-B117B794AAEA}"/>
              </a:ext>
            </a:extLst>
          </p:cNvPr>
          <p:cNvPicPr>
            <a:picLocks noChangeAspect="1"/>
          </p:cNvPicPr>
          <p:nvPr/>
        </p:nvPicPr>
        <p:blipFill>
          <a:blip r:embed="rId3"/>
          <a:srcRect r="2210" b="3"/>
          <a:stretch/>
        </p:blipFill>
        <p:spPr>
          <a:xfrm>
            <a:off x="586679" y="1203821"/>
            <a:ext cx="6094644" cy="5197980"/>
          </a:xfrm>
          <a:prstGeom prst="rect">
            <a:avLst/>
          </a:prstGeom>
          <a:ln>
            <a:solidFill>
              <a:schemeClr val="tx1"/>
            </a:solidFill>
          </a:ln>
        </p:spPr>
      </p:pic>
      <p:sp>
        <p:nvSpPr>
          <p:cNvPr id="4" name="Slide Number Placeholder 3">
            <a:extLst>
              <a:ext uri="{FF2B5EF4-FFF2-40B4-BE49-F238E27FC236}">
                <a16:creationId xmlns:a16="http://schemas.microsoft.com/office/drawing/2014/main" id="{6AEDE021-BD13-E335-2265-75937C0D9274}"/>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a:spcAft>
                <a:spcPts val="600"/>
              </a:spcAft>
            </a:pPr>
            <a:fld id="{4F9E8B95-D1A7-41C3-AE42-803D7923C3C7}" type="slidenum">
              <a:rPr lang="en-US" smtClean="0"/>
              <a:pPr>
                <a:spcAft>
                  <a:spcPts val="600"/>
                </a:spcAft>
              </a:pPr>
              <a:t>6</a:t>
            </a:fld>
            <a:endParaRPr lang="en-US"/>
          </a:p>
        </p:txBody>
      </p:sp>
      <p:graphicFrame>
        <p:nvGraphicFramePr>
          <p:cNvPr id="5" name="Table 4">
            <a:extLst>
              <a:ext uri="{FF2B5EF4-FFF2-40B4-BE49-F238E27FC236}">
                <a16:creationId xmlns:a16="http://schemas.microsoft.com/office/drawing/2014/main" id="{D8F897DA-5252-5FFD-29E8-8FE1391FA75E}"/>
              </a:ext>
            </a:extLst>
          </p:cNvPr>
          <p:cNvGraphicFramePr>
            <a:graphicFrameLocks noGrp="1"/>
          </p:cNvGraphicFramePr>
          <p:nvPr>
            <p:extLst>
              <p:ext uri="{D42A27DB-BD31-4B8C-83A1-F6EECF244321}">
                <p14:modId xmlns:p14="http://schemas.microsoft.com/office/powerpoint/2010/main" val="4070893462"/>
              </p:ext>
            </p:extLst>
          </p:nvPr>
        </p:nvGraphicFramePr>
        <p:xfrm>
          <a:off x="6684322" y="1196829"/>
          <a:ext cx="3787952" cy="5287500"/>
        </p:xfrm>
        <a:graphic>
          <a:graphicData uri="http://schemas.openxmlformats.org/drawingml/2006/table">
            <a:tbl>
              <a:tblPr firstRow="1" bandRow="1">
                <a:tableStyleId>{21E4AEA4-8DFA-4A89-87EB-49C32662AFE0}</a:tableStyleId>
              </a:tblPr>
              <a:tblGrid>
                <a:gridCol w="1893976">
                  <a:extLst>
                    <a:ext uri="{9D8B030D-6E8A-4147-A177-3AD203B41FA5}">
                      <a16:colId xmlns:a16="http://schemas.microsoft.com/office/drawing/2014/main" val="2545352923"/>
                    </a:ext>
                  </a:extLst>
                </a:gridCol>
                <a:gridCol w="1893976">
                  <a:extLst>
                    <a:ext uri="{9D8B030D-6E8A-4147-A177-3AD203B41FA5}">
                      <a16:colId xmlns:a16="http://schemas.microsoft.com/office/drawing/2014/main" val="2783448011"/>
                    </a:ext>
                  </a:extLst>
                </a:gridCol>
              </a:tblGrid>
              <a:tr h="585540">
                <a:tc gridSpan="2">
                  <a:txBody>
                    <a:bodyPr/>
                    <a:lstStyle/>
                    <a:p>
                      <a:pPr lvl="0" algn="ctr">
                        <a:buNone/>
                      </a:pPr>
                      <a:r>
                        <a:rPr lang="en-US" sz="2400"/>
                        <a:t>OSI Layers and Protocols</a:t>
                      </a:r>
                      <a:endParaRPr lang="en-US"/>
                    </a:p>
                  </a:txBody>
                  <a:tcPr>
                    <a:lnL w="12700">
                      <a:solidFill>
                        <a:schemeClr val="tx1"/>
                      </a:solidFill>
                    </a:lnL>
                    <a:lnR w="12700">
                      <a:solidFill>
                        <a:schemeClr val="tx1"/>
                      </a:solidFill>
                    </a:lnR>
                    <a:lnT w="12700">
                      <a:solidFill>
                        <a:schemeClr val="tx1"/>
                      </a:solidFill>
                    </a:lnT>
                  </a:tcPr>
                </a:tc>
                <a:tc hMerge="1">
                  <a:txBody>
                    <a:bodyPr/>
                    <a:lstStyle/>
                    <a:p>
                      <a:endParaRPr lang="en-US" sz="2400"/>
                    </a:p>
                  </a:txBody>
                  <a:tcPr marL="0" marR="0" marT="0" marB="0" horzOverflow="overflow"/>
                </a:tc>
                <a:extLst>
                  <a:ext uri="{0D108BD9-81ED-4DB2-BD59-A6C34878D82A}">
                    <a16:rowId xmlns:a16="http://schemas.microsoft.com/office/drawing/2014/main" val="1213435277"/>
                  </a:ext>
                </a:extLst>
              </a:tr>
              <a:tr h="1152193">
                <a:tc>
                  <a:txBody>
                    <a:bodyPr/>
                    <a:lstStyle/>
                    <a:p>
                      <a:pPr lvl="0">
                        <a:buNone/>
                      </a:pPr>
                      <a:r>
                        <a:rPr lang="en-US"/>
                        <a:t>Application</a:t>
                      </a:r>
                    </a:p>
                  </a:txBody>
                  <a:tcPr>
                    <a:lnL w="12700">
                      <a:solidFill>
                        <a:schemeClr val="tx1"/>
                      </a:solidFill>
                    </a:lnL>
                  </a:tcPr>
                </a:tc>
                <a:tc>
                  <a:txBody>
                    <a:bodyPr/>
                    <a:lstStyle/>
                    <a:p>
                      <a:r>
                        <a:rPr lang="en-US"/>
                        <a:t>HTTPS, DNS, IMAP, POP3, SMTP, SNMP, DHCP, SSH</a:t>
                      </a:r>
                    </a:p>
                  </a:txBody>
                  <a:tcPr>
                    <a:lnR w="12700">
                      <a:solidFill>
                        <a:schemeClr val="tx1"/>
                      </a:solidFill>
                    </a:lnR>
                  </a:tcPr>
                </a:tc>
                <a:extLst>
                  <a:ext uri="{0D108BD9-81ED-4DB2-BD59-A6C34878D82A}">
                    <a16:rowId xmlns:a16="http://schemas.microsoft.com/office/drawing/2014/main" val="4066251589"/>
                  </a:ext>
                </a:extLst>
              </a:tr>
              <a:tr h="585540">
                <a:tc>
                  <a:txBody>
                    <a:bodyPr/>
                    <a:lstStyle/>
                    <a:p>
                      <a:pPr lvl="0">
                        <a:buNone/>
                      </a:pPr>
                      <a:r>
                        <a:rPr lang="en-US"/>
                        <a:t>Presentation </a:t>
                      </a:r>
                    </a:p>
                  </a:txBody>
                  <a:tcPr>
                    <a:lnL w="12700">
                      <a:solidFill>
                        <a:schemeClr val="tx1"/>
                      </a:solidFill>
                    </a:lnL>
                  </a:tcPr>
                </a:tc>
                <a:tc>
                  <a:txBody>
                    <a:bodyPr/>
                    <a:lstStyle/>
                    <a:p>
                      <a:r>
                        <a:rPr lang="en-US"/>
                        <a:t>TLS/SSL</a:t>
                      </a:r>
                    </a:p>
                  </a:txBody>
                  <a:tcPr>
                    <a:lnR w="12700">
                      <a:solidFill>
                        <a:schemeClr val="tx1"/>
                      </a:solidFill>
                    </a:lnR>
                  </a:tcPr>
                </a:tc>
                <a:extLst>
                  <a:ext uri="{0D108BD9-81ED-4DB2-BD59-A6C34878D82A}">
                    <a16:rowId xmlns:a16="http://schemas.microsoft.com/office/drawing/2014/main" val="2284906412"/>
                  </a:ext>
                </a:extLst>
              </a:tr>
              <a:tr h="585540">
                <a:tc>
                  <a:txBody>
                    <a:bodyPr/>
                    <a:lstStyle/>
                    <a:p>
                      <a:pPr lvl="0">
                        <a:buNone/>
                      </a:pPr>
                      <a:r>
                        <a:rPr lang="en-US"/>
                        <a:t>Session</a:t>
                      </a:r>
                    </a:p>
                  </a:txBody>
                  <a:tcPr>
                    <a:lnL w="12700">
                      <a:solidFill>
                        <a:schemeClr val="tx1"/>
                      </a:solidFill>
                    </a:lnL>
                  </a:tcPr>
                </a:tc>
                <a:tc>
                  <a:txBody>
                    <a:bodyPr/>
                    <a:lstStyle/>
                    <a:p>
                      <a:endParaRPr lang="en-US"/>
                    </a:p>
                  </a:txBody>
                  <a:tcPr>
                    <a:lnR w="12700">
                      <a:solidFill>
                        <a:schemeClr val="tx1"/>
                      </a:solidFill>
                    </a:lnR>
                  </a:tcPr>
                </a:tc>
                <a:extLst>
                  <a:ext uri="{0D108BD9-81ED-4DB2-BD59-A6C34878D82A}">
                    <a16:rowId xmlns:a16="http://schemas.microsoft.com/office/drawing/2014/main" val="4055816667"/>
                  </a:ext>
                </a:extLst>
              </a:tr>
              <a:tr h="585540">
                <a:tc>
                  <a:txBody>
                    <a:bodyPr/>
                    <a:lstStyle/>
                    <a:p>
                      <a:pPr lvl="0">
                        <a:buNone/>
                      </a:pPr>
                      <a:r>
                        <a:rPr lang="en-US"/>
                        <a:t>Transport</a:t>
                      </a:r>
                    </a:p>
                  </a:txBody>
                  <a:tcPr>
                    <a:lnL w="12700">
                      <a:solidFill>
                        <a:schemeClr val="tx1"/>
                      </a:solidFill>
                    </a:lnL>
                  </a:tcPr>
                </a:tc>
                <a:tc>
                  <a:txBody>
                    <a:bodyPr/>
                    <a:lstStyle/>
                    <a:p>
                      <a:r>
                        <a:rPr lang="en-US"/>
                        <a:t>TCP/UDP</a:t>
                      </a:r>
                    </a:p>
                  </a:txBody>
                  <a:tcPr>
                    <a:lnR w="12700">
                      <a:solidFill>
                        <a:schemeClr val="tx1"/>
                      </a:solidFill>
                    </a:lnR>
                  </a:tcPr>
                </a:tc>
                <a:extLst>
                  <a:ext uri="{0D108BD9-81ED-4DB2-BD59-A6C34878D82A}">
                    <a16:rowId xmlns:a16="http://schemas.microsoft.com/office/drawing/2014/main" val="1262348063"/>
                  </a:ext>
                </a:extLst>
              </a:tr>
              <a:tr h="585540">
                <a:tc>
                  <a:txBody>
                    <a:bodyPr/>
                    <a:lstStyle/>
                    <a:p>
                      <a:pPr lvl="0">
                        <a:buNone/>
                      </a:pPr>
                      <a:r>
                        <a:rPr lang="en-US"/>
                        <a:t>Network</a:t>
                      </a:r>
                    </a:p>
                  </a:txBody>
                  <a:tcPr>
                    <a:lnL w="12700">
                      <a:solidFill>
                        <a:schemeClr val="tx1"/>
                      </a:solidFill>
                    </a:lnL>
                  </a:tcPr>
                </a:tc>
                <a:tc>
                  <a:txBody>
                    <a:bodyPr/>
                    <a:lstStyle/>
                    <a:p>
                      <a:r>
                        <a:rPr lang="en-US"/>
                        <a:t>IP</a:t>
                      </a:r>
                    </a:p>
                  </a:txBody>
                  <a:tcPr>
                    <a:lnR w="12700">
                      <a:solidFill>
                        <a:schemeClr val="tx1"/>
                      </a:solidFill>
                    </a:lnR>
                  </a:tcPr>
                </a:tc>
                <a:extLst>
                  <a:ext uri="{0D108BD9-81ED-4DB2-BD59-A6C34878D82A}">
                    <a16:rowId xmlns:a16="http://schemas.microsoft.com/office/drawing/2014/main" val="3597875049"/>
                  </a:ext>
                </a:extLst>
              </a:tr>
              <a:tr h="585540">
                <a:tc>
                  <a:txBody>
                    <a:bodyPr/>
                    <a:lstStyle/>
                    <a:p>
                      <a:pPr lvl="0">
                        <a:buNone/>
                      </a:pPr>
                      <a:r>
                        <a:rPr lang="en-US"/>
                        <a:t>Data Link</a:t>
                      </a:r>
                    </a:p>
                  </a:txBody>
                  <a:tcPr>
                    <a:lnL w="12700">
                      <a:solidFill>
                        <a:schemeClr val="tx1"/>
                      </a:solidFill>
                    </a:lnL>
                  </a:tcPr>
                </a:tc>
                <a:tc>
                  <a:txBody>
                    <a:bodyPr/>
                    <a:lstStyle/>
                    <a:p>
                      <a:r>
                        <a:rPr lang="en-US"/>
                        <a:t>MAC</a:t>
                      </a:r>
                    </a:p>
                  </a:txBody>
                  <a:tcPr>
                    <a:lnR w="12700">
                      <a:solidFill>
                        <a:schemeClr val="tx1"/>
                      </a:solidFill>
                    </a:lnR>
                  </a:tcPr>
                </a:tc>
                <a:extLst>
                  <a:ext uri="{0D108BD9-81ED-4DB2-BD59-A6C34878D82A}">
                    <a16:rowId xmlns:a16="http://schemas.microsoft.com/office/drawing/2014/main" val="938057207"/>
                  </a:ext>
                </a:extLst>
              </a:tr>
              <a:tr h="585540">
                <a:tc>
                  <a:txBody>
                    <a:bodyPr/>
                    <a:lstStyle/>
                    <a:p>
                      <a:pPr lvl="0">
                        <a:buNone/>
                      </a:pPr>
                      <a:r>
                        <a:rPr lang="en-US"/>
                        <a:t>Physical</a:t>
                      </a:r>
                    </a:p>
                  </a:txBody>
                  <a:tcPr>
                    <a:lnL w="12700">
                      <a:solidFill>
                        <a:schemeClr val="tx1"/>
                      </a:solidFill>
                    </a:lnL>
                    <a:lnB w="12700">
                      <a:solidFill>
                        <a:schemeClr val="tx1"/>
                      </a:solidFill>
                    </a:lnB>
                  </a:tcPr>
                </a:tc>
                <a:tc>
                  <a:txBody>
                    <a:bodyPr/>
                    <a:lstStyle/>
                    <a:p>
                      <a:pPr lvl="0">
                        <a:buNone/>
                      </a:pPr>
                      <a:endParaRPr lang="en-US"/>
                    </a:p>
                  </a:txBody>
                  <a:tcPr>
                    <a:lnR w="12700">
                      <a:solidFill>
                        <a:schemeClr val="tx1"/>
                      </a:solidFill>
                    </a:lnR>
                    <a:lnB w="12700">
                      <a:solidFill>
                        <a:schemeClr val="tx1"/>
                      </a:solidFill>
                    </a:lnB>
                  </a:tcPr>
                </a:tc>
                <a:extLst>
                  <a:ext uri="{0D108BD9-81ED-4DB2-BD59-A6C34878D82A}">
                    <a16:rowId xmlns:a16="http://schemas.microsoft.com/office/drawing/2014/main" val="2346930672"/>
                  </a:ext>
                </a:extLst>
              </a:tr>
            </a:tbl>
          </a:graphicData>
        </a:graphic>
      </p:graphicFrame>
    </p:spTree>
    <p:extLst>
      <p:ext uri="{BB962C8B-B14F-4D97-AF65-F5344CB8AC3E}">
        <p14:creationId xmlns:p14="http://schemas.microsoft.com/office/powerpoint/2010/main" val="19618495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48692-762C-8492-A427-0D5B404205FD}"/>
              </a:ext>
            </a:extLst>
          </p:cNvPr>
          <p:cNvSpPr>
            <a:spLocks noGrp="1"/>
          </p:cNvSpPr>
          <p:nvPr>
            <p:ph type="title"/>
          </p:nvPr>
        </p:nvSpPr>
        <p:spPr>
          <a:xfrm>
            <a:off x="677334" y="609600"/>
            <a:ext cx="8596668" cy="774461"/>
          </a:xfrm>
        </p:spPr>
        <p:txBody>
          <a:bodyPr/>
          <a:lstStyle/>
          <a:p>
            <a:r>
              <a:rPr lang="en-US" b="1">
                <a:solidFill>
                  <a:schemeClr val="tx1"/>
                </a:solidFill>
              </a:rPr>
              <a:t>Compliance Requirements</a:t>
            </a:r>
          </a:p>
        </p:txBody>
      </p:sp>
      <p:sp>
        <p:nvSpPr>
          <p:cNvPr id="3" name="Content Placeholder 2">
            <a:extLst>
              <a:ext uri="{FF2B5EF4-FFF2-40B4-BE49-F238E27FC236}">
                <a16:creationId xmlns:a16="http://schemas.microsoft.com/office/drawing/2014/main" id="{CC1DAA83-57F5-8251-B290-11130FD27154}"/>
              </a:ext>
            </a:extLst>
          </p:cNvPr>
          <p:cNvSpPr>
            <a:spLocks noGrp="1"/>
          </p:cNvSpPr>
          <p:nvPr>
            <p:ph idx="1"/>
          </p:nvPr>
        </p:nvSpPr>
        <p:spPr>
          <a:xfrm>
            <a:off x="677334" y="1599872"/>
            <a:ext cx="8596668" cy="3880773"/>
          </a:xfrm>
        </p:spPr>
        <p:txBody>
          <a:bodyPr vert="horz" lIns="91440" tIns="45720" rIns="91440" bIns="45720" rtlCol="0" anchor="t">
            <a:normAutofit/>
          </a:bodyPr>
          <a:lstStyle/>
          <a:p>
            <a:r>
              <a:rPr lang="en-US" b="1"/>
              <a:t>Health Insurance Portability and Accountability Act:</a:t>
            </a:r>
            <a:r>
              <a:rPr lang="en-US"/>
              <a:t>  Personal Identifiable Information and Person Health Information must be protected in accordance with Federal law.</a:t>
            </a:r>
            <a:endParaRPr lang="en-US">
              <a:solidFill>
                <a:srgbClr val="404040"/>
              </a:solidFill>
            </a:endParaRPr>
          </a:p>
          <a:p>
            <a:r>
              <a:rPr lang="en-US" b="1"/>
              <a:t>Payment Card Industry Data Security Standards:</a:t>
            </a:r>
            <a:r>
              <a:rPr lang="en-US"/>
              <a:t>  The minimum requirements for industries accepting payment from credit cards.  It requires regularly scheduled vulnerability scans, cryptography, and access controls.</a:t>
            </a:r>
          </a:p>
          <a:p>
            <a:r>
              <a:rPr lang="en-US" b="1"/>
              <a:t>National Institute of Standards in Technology:  </a:t>
            </a:r>
            <a:r>
              <a:rPr lang="en-US"/>
              <a:t>Standards for acceptable use and security controls on organizational systems.   </a:t>
            </a:r>
          </a:p>
          <a:p>
            <a:endParaRPr lang="en-US"/>
          </a:p>
        </p:txBody>
      </p:sp>
      <p:sp>
        <p:nvSpPr>
          <p:cNvPr id="4" name="Slide Number Placeholder 3">
            <a:extLst>
              <a:ext uri="{FF2B5EF4-FFF2-40B4-BE49-F238E27FC236}">
                <a16:creationId xmlns:a16="http://schemas.microsoft.com/office/drawing/2014/main" id="{67C42C67-FF21-F3D6-D9F7-CA69467D432D}"/>
              </a:ext>
            </a:extLst>
          </p:cNvPr>
          <p:cNvSpPr>
            <a:spLocks noGrp="1"/>
          </p:cNvSpPr>
          <p:nvPr>
            <p:ph type="sldNum" sz="quarter" idx="12"/>
          </p:nvPr>
        </p:nvSpPr>
        <p:spPr/>
        <p:txBody>
          <a:bodyPr/>
          <a:lstStyle/>
          <a:p>
            <a:fld id="{4F9E8B95-D1A7-41C3-AE42-803D7923C3C7}" type="slidenum">
              <a:rPr lang="en-US" smtClean="0"/>
              <a:t>7</a:t>
            </a:fld>
            <a:endParaRPr lang="en-US"/>
          </a:p>
        </p:txBody>
      </p:sp>
    </p:spTree>
    <p:extLst>
      <p:ext uri="{BB962C8B-B14F-4D97-AF65-F5344CB8AC3E}">
        <p14:creationId xmlns:p14="http://schemas.microsoft.com/office/powerpoint/2010/main" val="40383136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7E3EBB-D125-80C9-9AA6-817CF82E4EC0}"/>
              </a:ext>
            </a:extLst>
          </p:cNvPr>
          <p:cNvSpPr>
            <a:spLocks noGrp="1"/>
          </p:cNvSpPr>
          <p:nvPr>
            <p:ph type="title"/>
          </p:nvPr>
        </p:nvSpPr>
        <p:spPr>
          <a:xfrm>
            <a:off x="1286933" y="207034"/>
            <a:ext cx="10197494" cy="553118"/>
          </a:xfrm>
        </p:spPr>
        <p:txBody>
          <a:bodyPr>
            <a:normAutofit fontScale="90000"/>
          </a:bodyPr>
          <a:lstStyle/>
          <a:p>
            <a:r>
              <a:rPr lang="en-US">
                <a:solidFill>
                  <a:schemeClr val="tx1"/>
                </a:solidFill>
              </a:rPr>
              <a:t>NIST Control Families Breakdown:</a:t>
            </a:r>
          </a:p>
        </p:txBody>
      </p:sp>
      <p:sp>
        <p:nvSpPr>
          <p:cNvPr id="14" name="Isosceles Triangle 13">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Content Placeholder 6">
            <a:extLst>
              <a:ext uri="{FF2B5EF4-FFF2-40B4-BE49-F238E27FC236}">
                <a16:creationId xmlns:a16="http://schemas.microsoft.com/office/drawing/2014/main" id="{3EC3C432-4886-3959-6E8B-97420CC4EF4D}"/>
              </a:ext>
            </a:extLst>
          </p:cNvPr>
          <p:cNvGraphicFramePr>
            <a:graphicFrameLocks noGrp="1"/>
          </p:cNvGraphicFramePr>
          <p:nvPr>
            <p:ph idx="1"/>
            <p:extLst>
              <p:ext uri="{D42A27DB-BD31-4B8C-83A1-F6EECF244321}">
                <p14:modId xmlns:p14="http://schemas.microsoft.com/office/powerpoint/2010/main" val="3923981310"/>
              </p:ext>
            </p:extLst>
          </p:nvPr>
        </p:nvGraphicFramePr>
        <p:xfrm>
          <a:off x="711839" y="981987"/>
          <a:ext cx="10644963" cy="4855794"/>
        </p:xfrm>
        <a:graphic>
          <a:graphicData uri="http://schemas.openxmlformats.org/drawingml/2006/table">
            <a:tbl>
              <a:tblPr firstRow="1" bandRow="1">
                <a:tableStyleId>{5C22544A-7EE6-4342-B048-85BDC9FD1C3A}</a:tableStyleId>
              </a:tblPr>
              <a:tblGrid>
                <a:gridCol w="3654337">
                  <a:extLst>
                    <a:ext uri="{9D8B030D-6E8A-4147-A177-3AD203B41FA5}">
                      <a16:colId xmlns:a16="http://schemas.microsoft.com/office/drawing/2014/main" val="813555818"/>
                    </a:ext>
                  </a:extLst>
                </a:gridCol>
                <a:gridCol w="1931996">
                  <a:extLst>
                    <a:ext uri="{9D8B030D-6E8A-4147-A177-3AD203B41FA5}">
                      <a16:colId xmlns:a16="http://schemas.microsoft.com/office/drawing/2014/main" val="293548116"/>
                    </a:ext>
                  </a:extLst>
                </a:gridCol>
                <a:gridCol w="5058630">
                  <a:extLst>
                    <a:ext uri="{9D8B030D-6E8A-4147-A177-3AD203B41FA5}">
                      <a16:colId xmlns:a16="http://schemas.microsoft.com/office/drawing/2014/main" val="178101682"/>
                    </a:ext>
                  </a:extLst>
                </a:gridCol>
              </a:tblGrid>
              <a:tr h="169192">
                <a:tc>
                  <a:txBody>
                    <a:bodyPr/>
                    <a:lstStyle/>
                    <a:p>
                      <a:pPr algn="ctr" rtl="0" fontAlgn="base"/>
                      <a:r>
                        <a:rPr lang="en-US" sz="1200">
                          <a:solidFill>
                            <a:srgbClr val="FFFFFF"/>
                          </a:solidFill>
                          <a:effectLst/>
                          <a:latin typeface="Times New Roman"/>
                        </a:rPr>
                        <a:t>NIST Security Control Family </a:t>
                      </a:r>
                      <a:endParaRPr lang="en-US" sz="1200">
                        <a:effectLst/>
                        <a:latin typeface="Times New Roman"/>
                      </a:endParaRPr>
                    </a:p>
                  </a:txBody>
                  <a:tcPr marL="6757" marR="6757" marT="6757" marB="6757" anchor="ctr">
                    <a:lnL>
                      <a:noFill/>
                    </a:lnL>
                    <a:lnR>
                      <a:noFill/>
                    </a:lnR>
                    <a:lnT>
                      <a:noFill/>
                    </a:lnT>
                    <a:lnB>
                      <a:noFill/>
                    </a:lnB>
                    <a:solidFill>
                      <a:srgbClr val="145F82"/>
                    </a:solidFill>
                  </a:tcPr>
                </a:tc>
                <a:tc>
                  <a:txBody>
                    <a:bodyPr/>
                    <a:lstStyle/>
                    <a:p>
                      <a:pPr algn="ctr" rtl="0" fontAlgn="base"/>
                      <a:r>
                        <a:rPr lang="en-US" sz="1200">
                          <a:solidFill>
                            <a:srgbClr val="FFFFFF"/>
                          </a:solidFill>
                          <a:effectLst/>
                          <a:latin typeface="Times New Roman"/>
                        </a:rPr>
                        <a:t>Team Member </a:t>
                      </a:r>
                      <a:endParaRPr lang="en-US" sz="1200">
                        <a:effectLst/>
                        <a:latin typeface="Times New Roman"/>
                      </a:endParaRPr>
                    </a:p>
                  </a:txBody>
                  <a:tcPr marL="6757" marR="6757" marT="6757" marB="6757" anchor="ctr">
                    <a:lnL>
                      <a:noFill/>
                    </a:lnL>
                    <a:lnR>
                      <a:noFill/>
                    </a:lnR>
                    <a:lnT>
                      <a:noFill/>
                    </a:lnT>
                    <a:lnB>
                      <a:noFill/>
                    </a:lnB>
                    <a:solidFill>
                      <a:srgbClr val="145F82"/>
                    </a:solidFill>
                  </a:tcPr>
                </a:tc>
                <a:tc>
                  <a:txBody>
                    <a:bodyPr/>
                    <a:lstStyle/>
                    <a:p>
                      <a:pPr algn="ctr" rtl="0" fontAlgn="base"/>
                      <a:r>
                        <a:rPr lang="en-US" sz="1200">
                          <a:solidFill>
                            <a:srgbClr val="FFFFFF"/>
                          </a:solidFill>
                          <a:effectLst/>
                          <a:latin typeface="Times New Roman"/>
                        </a:rPr>
                        <a:t>Subcategories </a:t>
                      </a:r>
                      <a:endParaRPr lang="en-US" sz="1200">
                        <a:effectLst/>
                        <a:latin typeface="Times New Roman"/>
                      </a:endParaRPr>
                    </a:p>
                  </a:txBody>
                  <a:tcPr marL="6757" marR="6757" marT="6757" marB="6757" anchor="ctr">
                    <a:lnL>
                      <a:noFill/>
                    </a:lnL>
                    <a:lnR>
                      <a:noFill/>
                    </a:lnR>
                    <a:lnT>
                      <a:noFill/>
                    </a:lnT>
                    <a:lnB>
                      <a:noFill/>
                    </a:lnB>
                    <a:solidFill>
                      <a:srgbClr val="145F82"/>
                    </a:solidFill>
                  </a:tcPr>
                </a:tc>
                <a:extLst>
                  <a:ext uri="{0D108BD9-81ED-4DB2-BD59-A6C34878D82A}">
                    <a16:rowId xmlns:a16="http://schemas.microsoft.com/office/drawing/2014/main" val="64771217"/>
                  </a:ext>
                </a:extLst>
              </a:tr>
              <a:tr h="169192">
                <a:tc>
                  <a:txBody>
                    <a:bodyPr/>
                    <a:lstStyle/>
                    <a:p>
                      <a:pPr algn="ctr" rtl="0" fontAlgn="base"/>
                      <a:r>
                        <a:rPr lang="en-US" sz="1200">
                          <a:effectLst/>
                          <a:latin typeface="Times New Roman"/>
                        </a:rPr>
                        <a:t>Awareness and Training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Loren Anderson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Literacy Training and Awareness, Training Records, Policy and Procedures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1783859266"/>
                  </a:ext>
                </a:extLst>
              </a:tr>
              <a:tr h="298923">
                <a:tc>
                  <a:txBody>
                    <a:bodyPr/>
                    <a:lstStyle/>
                    <a:p>
                      <a:pPr algn="ctr" rtl="0" fontAlgn="base"/>
                      <a:r>
                        <a:rPr lang="en-US" sz="1200">
                          <a:effectLst/>
                          <a:latin typeface="Times New Roman"/>
                        </a:rPr>
                        <a:t>Identification and Authentication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Loren Anderson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Policy and procedures, Device identification and Authentication, Identification and Authentication (Organizational Users) </a:t>
                      </a:r>
                    </a:p>
                  </a:txBody>
                  <a:tcPr marL="6757" marR="6757" marT="6757" marB="6757" anchor="ctr">
                    <a:lnL>
                      <a:noFill/>
                    </a:lnL>
                    <a:lnR>
                      <a:noFill/>
                    </a:lnR>
                    <a:lnT>
                      <a:noFill/>
                    </a:lnT>
                    <a:lnB>
                      <a:noFill/>
                    </a:lnB>
                    <a:noFill/>
                  </a:tcPr>
                </a:tc>
                <a:extLst>
                  <a:ext uri="{0D108BD9-81ED-4DB2-BD59-A6C34878D82A}">
                    <a16:rowId xmlns:a16="http://schemas.microsoft.com/office/drawing/2014/main" val="831165375"/>
                  </a:ext>
                </a:extLst>
              </a:tr>
              <a:tr h="169192">
                <a:tc>
                  <a:txBody>
                    <a:bodyPr/>
                    <a:lstStyle/>
                    <a:p>
                      <a:pPr algn="ctr" rtl="0" fontAlgn="base"/>
                      <a:r>
                        <a:rPr lang="en-US" sz="1200">
                          <a:effectLst/>
                          <a:latin typeface="Times New Roman"/>
                        </a:rPr>
                        <a:t>Personnel Security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Loren Anderson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Personnel Screening, Personnel Termination, Policy and Procedures.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9831131"/>
                  </a:ext>
                </a:extLst>
              </a:tr>
              <a:tr h="169192">
                <a:tc>
                  <a:txBody>
                    <a:bodyPr/>
                    <a:lstStyle/>
                    <a:p>
                      <a:pPr algn="ctr" rtl="0" fontAlgn="base"/>
                      <a:r>
                        <a:rPr lang="en-US" sz="1200">
                          <a:effectLst/>
                          <a:latin typeface="Times New Roman"/>
                        </a:rPr>
                        <a:t>Incident Response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Loren Anderson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Incidence Response Training, Incidence Response Testing, Policy and Procedures </a:t>
                      </a:r>
                    </a:p>
                  </a:txBody>
                  <a:tcPr marL="6757" marR="6757" marT="6757" marB="6757" anchor="ctr">
                    <a:lnL>
                      <a:noFill/>
                    </a:lnL>
                    <a:lnR>
                      <a:noFill/>
                    </a:lnR>
                    <a:lnT>
                      <a:noFill/>
                    </a:lnT>
                    <a:lnB>
                      <a:noFill/>
                    </a:lnB>
                    <a:noFill/>
                  </a:tcPr>
                </a:tc>
                <a:extLst>
                  <a:ext uri="{0D108BD9-81ED-4DB2-BD59-A6C34878D82A}">
                    <a16:rowId xmlns:a16="http://schemas.microsoft.com/office/drawing/2014/main" val="4109838476"/>
                  </a:ext>
                </a:extLst>
              </a:tr>
              <a:tr h="298923">
                <a:tc>
                  <a:txBody>
                    <a:bodyPr/>
                    <a:lstStyle/>
                    <a:p>
                      <a:pPr algn="ctr" rtl="0" fontAlgn="base"/>
                      <a:r>
                        <a:rPr lang="en-US" sz="1200">
                          <a:effectLst/>
                          <a:latin typeface="Times New Roman"/>
                        </a:rPr>
                        <a:t>System and Information Integrity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Loren Anderson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System Monitoring, Security Alerts Advisories and Directives, Software Firmware and Information Integrity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915597762"/>
                  </a:ext>
                </a:extLst>
              </a:tr>
              <a:tr h="169192">
                <a:tc>
                  <a:txBody>
                    <a:bodyPr/>
                    <a:lstStyle/>
                    <a:p>
                      <a:pPr algn="ctr" rtl="0" fontAlgn="base"/>
                      <a:r>
                        <a:rPr lang="en-US" sz="1200">
                          <a:effectLst/>
                          <a:latin typeface="Times New Roman"/>
                        </a:rPr>
                        <a:t>PII Processing and Transparency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Loren Anderson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PII Processing Purposes, Consent, Privacy Notice </a:t>
                      </a:r>
                    </a:p>
                  </a:txBody>
                  <a:tcPr marL="6757" marR="6757" marT="6757" marB="6757" anchor="ctr">
                    <a:lnL>
                      <a:noFill/>
                    </a:lnL>
                    <a:lnR>
                      <a:noFill/>
                    </a:lnR>
                    <a:lnT>
                      <a:noFill/>
                    </a:lnT>
                    <a:lnB>
                      <a:noFill/>
                    </a:lnB>
                    <a:noFill/>
                  </a:tcPr>
                </a:tc>
                <a:extLst>
                  <a:ext uri="{0D108BD9-81ED-4DB2-BD59-A6C34878D82A}">
                    <a16:rowId xmlns:a16="http://schemas.microsoft.com/office/drawing/2014/main" val="2719411641"/>
                  </a:ext>
                </a:extLst>
              </a:tr>
              <a:tr h="169192">
                <a:tc>
                  <a:txBody>
                    <a:bodyPr/>
                    <a:lstStyle/>
                    <a:p>
                      <a:pPr algn="ctr" rtl="0" fontAlgn="base"/>
                      <a:r>
                        <a:rPr lang="en-US" sz="1200">
                          <a:effectLst/>
                          <a:latin typeface="Times New Roman"/>
                        </a:rPr>
                        <a:t>Risk Assessment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Loren Anderson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Policy and Procedures, Security categorization, Risk Assessment.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1555517833"/>
                  </a:ext>
                </a:extLst>
              </a:tr>
              <a:tr h="169192">
                <a:tc>
                  <a:txBody>
                    <a:bodyPr/>
                    <a:lstStyle/>
                    <a:p>
                      <a:pPr algn="ctr" rtl="0" fontAlgn="base"/>
                      <a:r>
                        <a:rPr lang="en-US" sz="1200">
                          <a:effectLst/>
                          <a:latin typeface="Times New Roman"/>
                        </a:rPr>
                        <a:t>Access Controls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Raynard Forte II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Unsuccessful Logon Attempts, Access Enforcement, Separation of Duties. </a:t>
                      </a:r>
                    </a:p>
                  </a:txBody>
                  <a:tcPr marL="6757" marR="6757" marT="6757" marB="6757" anchor="ctr">
                    <a:lnL>
                      <a:noFill/>
                    </a:lnL>
                    <a:lnR>
                      <a:noFill/>
                    </a:lnR>
                    <a:lnT>
                      <a:noFill/>
                    </a:lnT>
                    <a:lnB>
                      <a:noFill/>
                    </a:lnB>
                    <a:noFill/>
                  </a:tcPr>
                </a:tc>
                <a:extLst>
                  <a:ext uri="{0D108BD9-81ED-4DB2-BD59-A6C34878D82A}">
                    <a16:rowId xmlns:a16="http://schemas.microsoft.com/office/drawing/2014/main" val="2648137428"/>
                  </a:ext>
                </a:extLst>
              </a:tr>
              <a:tr h="169192">
                <a:tc>
                  <a:txBody>
                    <a:bodyPr/>
                    <a:lstStyle/>
                    <a:p>
                      <a:pPr algn="ctr" rtl="0" fontAlgn="base"/>
                      <a:r>
                        <a:rPr lang="en-US" sz="1200">
                          <a:effectLst/>
                          <a:latin typeface="Times New Roman"/>
                        </a:rPr>
                        <a:t>Planning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Raynard Forte II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System Security and Privacy Plans, Rules of Behavior, Baseline Selection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757216323"/>
                  </a:ext>
                </a:extLst>
              </a:tr>
              <a:tr h="169192">
                <a:tc>
                  <a:txBody>
                    <a:bodyPr/>
                    <a:lstStyle/>
                    <a:p>
                      <a:pPr algn="ctr" rtl="0" fontAlgn="base"/>
                      <a:r>
                        <a:rPr lang="en-US" sz="1200">
                          <a:effectLst/>
                          <a:latin typeface="Times New Roman"/>
                        </a:rPr>
                        <a:t>Physical and Environmental Protection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Raynard Forte II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Physical Access Authorizations, Policy and Procedures, Physical Access Control </a:t>
                      </a:r>
                    </a:p>
                  </a:txBody>
                  <a:tcPr marL="6757" marR="6757" marT="6757" marB="6757" anchor="ctr">
                    <a:lnL>
                      <a:noFill/>
                    </a:lnL>
                    <a:lnR>
                      <a:noFill/>
                    </a:lnR>
                    <a:lnT>
                      <a:noFill/>
                    </a:lnT>
                    <a:lnB>
                      <a:noFill/>
                    </a:lnB>
                    <a:noFill/>
                  </a:tcPr>
                </a:tc>
                <a:extLst>
                  <a:ext uri="{0D108BD9-81ED-4DB2-BD59-A6C34878D82A}">
                    <a16:rowId xmlns:a16="http://schemas.microsoft.com/office/drawing/2014/main" val="2547636196"/>
                  </a:ext>
                </a:extLst>
              </a:tr>
              <a:tr h="169192">
                <a:tc>
                  <a:txBody>
                    <a:bodyPr/>
                    <a:lstStyle/>
                    <a:p>
                      <a:pPr algn="ctr" rtl="0" fontAlgn="base"/>
                      <a:r>
                        <a:rPr lang="en-US" sz="1200">
                          <a:effectLst/>
                          <a:latin typeface="Times New Roman"/>
                        </a:rPr>
                        <a:t>Maintenance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Raynard Forte II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Policy and Procedures, Controlled Maintenance, Maintenance Personnel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3903871204"/>
                  </a:ext>
                </a:extLst>
              </a:tr>
              <a:tr h="169192">
                <a:tc>
                  <a:txBody>
                    <a:bodyPr/>
                    <a:lstStyle/>
                    <a:p>
                      <a:pPr algn="ctr" rtl="0" fontAlgn="base"/>
                      <a:r>
                        <a:rPr lang="en-US" sz="1200">
                          <a:effectLst/>
                          <a:latin typeface="Times New Roman"/>
                        </a:rPr>
                        <a:t>Contingency Planning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Raynard Forte II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Policy and Procedures, Contingency Plan, Contingency Training. </a:t>
                      </a:r>
                    </a:p>
                  </a:txBody>
                  <a:tcPr marL="6757" marR="6757" marT="6757" marB="6757" anchor="ctr">
                    <a:lnL>
                      <a:noFill/>
                    </a:lnL>
                    <a:lnR>
                      <a:noFill/>
                    </a:lnR>
                    <a:lnT>
                      <a:noFill/>
                    </a:lnT>
                    <a:lnB>
                      <a:noFill/>
                    </a:lnB>
                    <a:noFill/>
                  </a:tcPr>
                </a:tc>
                <a:extLst>
                  <a:ext uri="{0D108BD9-81ED-4DB2-BD59-A6C34878D82A}">
                    <a16:rowId xmlns:a16="http://schemas.microsoft.com/office/drawing/2014/main" val="80348755"/>
                  </a:ext>
                </a:extLst>
              </a:tr>
              <a:tr h="169192">
                <a:tc>
                  <a:txBody>
                    <a:bodyPr/>
                    <a:lstStyle/>
                    <a:p>
                      <a:pPr algn="ctr" rtl="0" fontAlgn="base"/>
                      <a:r>
                        <a:rPr lang="en-US" sz="1200">
                          <a:effectLst/>
                          <a:latin typeface="Times New Roman"/>
                        </a:rPr>
                        <a:t>System and Communications Protections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Raynard Forte II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Policy and Procedures, Resource Availability, Denial-of-service Protection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4155181515"/>
                  </a:ext>
                </a:extLst>
              </a:tr>
              <a:tr h="169192">
                <a:tc>
                  <a:txBody>
                    <a:bodyPr/>
                    <a:lstStyle/>
                    <a:p>
                      <a:pPr algn="ctr" rtl="0" fontAlgn="base"/>
                      <a:r>
                        <a:rPr lang="en-US" sz="1200">
                          <a:effectLst/>
                          <a:latin typeface="Times New Roman"/>
                        </a:rPr>
                        <a:t>Program Management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Raynard Forte II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Information Security Program Plan, Measures of Performance, System Inventory </a:t>
                      </a:r>
                    </a:p>
                  </a:txBody>
                  <a:tcPr marL="6757" marR="6757" marT="6757" marB="6757" anchor="ctr">
                    <a:lnL>
                      <a:noFill/>
                    </a:lnL>
                    <a:lnR>
                      <a:noFill/>
                    </a:lnR>
                    <a:lnT>
                      <a:noFill/>
                    </a:lnT>
                    <a:lnB>
                      <a:noFill/>
                    </a:lnB>
                    <a:noFill/>
                  </a:tcPr>
                </a:tc>
                <a:extLst>
                  <a:ext uri="{0D108BD9-81ED-4DB2-BD59-A6C34878D82A}">
                    <a16:rowId xmlns:a16="http://schemas.microsoft.com/office/drawing/2014/main" val="2145311050"/>
                  </a:ext>
                </a:extLst>
              </a:tr>
              <a:tr h="173354">
                <a:tc>
                  <a:txBody>
                    <a:bodyPr/>
                    <a:lstStyle/>
                    <a:p>
                      <a:pPr algn="ctr" rtl="0" fontAlgn="base"/>
                      <a:r>
                        <a:rPr lang="en-US" sz="1200">
                          <a:effectLst/>
                          <a:latin typeface="Times New Roman"/>
                        </a:rPr>
                        <a:t>Configuration Management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Steven Jackson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Policy and Procedures, Baseline Configuration, Access Restriction for Change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2530944280"/>
                  </a:ext>
                </a:extLst>
              </a:tr>
              <a:tr h="169192">
                <a:tc>
                  <a:txBody>
                    <a:bodyPr/>
                    <a:lstStyle/>
                    <a:p>
                      <a:pPr algn="ctr" rtl="0" fontAlgn="base"/>
                      <a:r>
                        <a:rPr lang="en-US" sz="1200">
                          <a:effectLst/>
                          <a:latin typeface="Times New Roman"/>
                        </a:rPr>
                        <a:t>System and Service Aquisition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Steven Jackson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Policy and Procedures, Allocation of Resources, System Development Lifecycle (SDLC) </a:t>
                      </a:r>
                    </a:p>
                  </a:txBody>
                  <a:tcPr marL="6757" marR="6757" marT="6757" marB="6757" anchor="ctr">
                    <a:lnL>
                      <a:noFill/>
                    </a:lnL>
                    <a:lnR>
                      <a:noFill/>
                    </a:lnR>
                    <a:lnT>
                      <a:noFill/>
                    </a:lnT>
                    <a:lnB>
                      <a:noFill/>
                    </a:lnB>
                    <a:noFill/>
                  </a:tcPr>
                </a:tc>
                <a:extLst>
                  <a:ext uri="{0D108BD9-81ED-4DB2-BD59-A6C34878D82A}">
                    <a16:rowId xmlns:a16="http://schemas.microsoft.com/office/drawing/2014/main" val="1654659331"/>
                  </a:ext>
                </a:extLst>
              </a:tr>
              <a:tr h="169192">
                <a:tc>
                  <a:txBody>
                    <a:bodyPr/>
                    <a:lstStyle/>
                    <a:p>
                      <a:pPr algn="ctr" rtl="0" fontAlgn="base"/>
                      <a:r>
                        <a:rPr lang="en-US" sz="1200">
                          <a:effectLst/>
                          <a:latin typeface="Times New Roman"/>
                        </a:rPr>
                        <a:t>Supply Chain Risk Management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Steven Jackson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Policy and Procedures, Acquisition Strategies, Tools and Methods, Supplier Assessments and Reviews.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1490003700"/>
                  </a:ext>
                </a:extLst>
              </a:tr>
              <a:tr h="169192">
                <a:tc>
                  <a:txBody>
                    <a:bodyPr/>
                    <a:lstStyle/>
                    <a:p>
                      <a:pPr algn="ctr" rtl="0" fontAlgn="base"/>
                      <a:r>
                        <a:rPr lang="en-US" sz="1200">
                          <a:effectLst/>
                          <a:latin typeface="Times New Roman"/>
                        </a:rPr>
                        <a:t>Audit and Accountability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Steven Jackson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Policy and Procedures, Event Logging, Alternate Audit Logging Capability </a:t>
                      </a:r>
                    </a:p>
                  </a:txBody>
                  <a:tcPr marL="6757" marR="6757" marT="6757" marB="6757" anchor="ctr">
                    <a:lnL>
                      <a:noFill/>
                    </a:lnL>
                    <a:lnR>
                      <a:noFill/>
                    </a:lnR>
                    <a:lnT>
                      <a:noFill/>
                    </a:lnT>
                    <a:lnB>
                      <a:noFill/>
                    </a:lnB>
                    <a:noFill/>
                  </a:tcPr>
                </a:tc>
                <a:extLst>
                  <a:ext uri="{0D108BD9-81ED-4DB2-BD59-A6C34878D82A}">
                    <a16:rowId xmlns:a16="http://schemas.microsoft.com/office/drawing/2014/main" val="4174761534"/>
                  </a:ext>
                </a:extLst>
              </a:tr>
              <a:tr h="169192">
                <a:tc>
                  <a:txBody>
                    <a:bodyPr/>
                    <a:lstStyle/>
                    <a:p>
                      <a:pPr algn="ctr" rtl="0" fontAlgn="base"/>
                      <a:r>
                        <a:rPr lang="en-US" sz="1200">
                          <a:effectLst/>
                          <a:latin typeface="Times New Roman"/>
                        </a:rPr>
                        <a:t>Assessment, Authorization, and Monitoring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Steven Jackson </a:t>
                      </a:r>
                    </a:p>
                  </a:txBody>
                  <a:tcPr marL="6757" marR="6757" marT="6757" marB="6757" anchor="ctr">
                    <a:lnL>
                      <a:noFill/>
                    </a:lnL>
                    <a:lnR>
                      <a:noFill/>
                    </a:lnR>
                    <a:lnT>
                      <a:noFill/>
                    </a:lnT>
                    <a:lnB>
                      <a:noFill/>
                    </a:lnB>
                    <a:solidFill>
                      <a:srgbClr val="C0E4F5"/>
                    </a:solidFill>
                  </a:tcPr>
                </a:tc>
                <a:tc>
                  <a:txBody>
                    <a:bodyPr/>
                    <a:lstStyle/>
                    <a:p>
                      <a:pPr algn="ctr" rtl="0" fontAlgn="base"/>
                      <a:r>
                        <a:rPr lang="en-US" sz="1200">
                          <a:effectLst/>
                          <a:latin typeface="Times New Roman"/>
                        </a:rPr>
                        <a:t>Policy and Procedures, Information Exchange, Authorization </a:t>
                      </a:r>
                    </a:p>
                  </a:txBody>
                  <a:tcPr marL="6757" marR="6757" marT="6757" marB="6757" anchor="ctr">
                    <a:lnL>
                      <a:noFill/>
                    </a:lnL>
                    <a:lnR>
                      <a:noFill/>
                    </a:lnR>
                    <a:lnT>
                      <a:noFill/>
                    </a:lnT>
                    <a:lnB>
                      <a:noFill/>
                    </a:lnB>
                    <a:solidFill>
                      <a:srgbClr val="C0E4F5"/>
                    </a:solidFill>
                  </a:tcPr>
                </a:tc>
                <a:extLst>
                  <a:ext uri="{0D108BD9-81ED-4DB2-BD59-A6C34878D82A}">
                    <a16:rowId xmlns:a16="http://schemas.microsoft.com/office/drawing/2014/main" val="51545864"/>
                  </a:ext>
                </a:extLst>
              </a:tr>
              <a:tr h="169192">
                <a:tc>
                  <a:txBody>
                    <a:bodyPr/>
                    <a:lstStyle/>
                    <a:p>
                      <a:pPr algn="ctr" rtl="0" fontAlgn="base"/>
                      <a:r>
                        <a:rPr lang="en-US" sz="1200">
                          <a:effectLst/>
                          <a:latin typeface="Times New Roman"/>
                        </a:rPr>
                        <a:t>Media Protection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Steven Jackson </a:t>
                      </a:r>
                    </a:p>
                  </a:txBody>
                  <a:tcPr marL="6757" marR="6757" marT="6757" marB="6757" anchor="ctr">
                    <a:lnL>
                      <a:noFill/>
                    </a:lnL>
                    <a:lnR>
                      <a:noFill/>
                    </a:lnR>
                    <a:lnT>
                      <a:noFill/>
                    </a:lnT>
                    <a:lnB>
                      <a:noFill/>
                    </a:lnB>
                    <a:noFill/>
                  </a:tcPr>
                </a:tc>
                <a:tc>
                  <a:txBody>
                    <a:bodyPr/>
                    <a:lstStyle/>
                    <a:p>
                      <a:pPr algn="ctr" rtl="0" fontAlgn="base"/>
                      <a:r>
                        <a:rPr lang="en-US" sz="1200">
                          <a:effectLst/>
                          <a:latin typeface="Times New Roman"/>
                        </a:rPr>
                        <a:t>Policy and Procedures, Media Storage, Media Transport </a:t>
                      </a:r>
                    </a:p>
                  </a:txBody>
                  <a:tcPr marL="6757" marR="6757" marT="6757" marB="6757" anchor="ctr">
                    <a:lnL>
                      <a:noFill/>
                    </a:lnL>
                    <a:lnR>
                      <a:noFill/>
                    </a:lnR>
                    <a:lnT>
                      <a:noFill/>
                    </a:lnT>
                    <a:lnB>
                      <a:noFill/>
                    </a:lnB>
                    <a:noFill/>
                  </a:tcPr>
                </a:tc>
                <a:extLst>
                  <a:ext uri="{0D108BD9-81ED-4DB2-BD59-A6C34878D82A}">
                    <a16:rowId xmlns:a16="http://schemas.microsoft.com/office/drawing/2014/main" val="3682206179"/>
                  </a:ext>
                </a:extLst>
              </a:tr>
            </a:tbl>
          </a:graphicData>
        </a:graphic>
      </p:graphicFrame>
      <p:sp>
        <p:nvSpPr>
          <p:cNvPr id="8" name="Slide Number Placeholder 7">
            <a:extLst>
              <a:ext uri="{FF2B5EF4-FFF2-40B4-BE49-F238E27FC236}">
                <a16:creationId xmlns:a16="http://schemas.microsoft.com/office/drawing/2014/main" id="{D0335D2A-6FAF-0C5A-CE70-D87481E45D63}"/>
              </a:ext>
            </a:extLst>
          </p:cNvPr>
          <p:cNvSpPr>
            <a:spLocks noGrp="1"/>
          </p:cNvSpPr>
          <p:nvPr>
            <p:ph type="sldNum" sz="quarter" idx="12"/>
          </p:nvPr>
        </p:nvSpPr>
        <p:spPr/>
        <p:txBody>
          <a:bodyPr/>
          <a:lstStyle/>
          <a:p>
            <a:fld id="{4F9E8B95-D1A7-41C3-AE42-803D7923C3C7}" type="slidenum">
              <a:rPr lang="en-US" smtClean="0"/>
              <a:t>8</a:t>
            </a:fld>
            <a:endParaRPr lang="en-US"/>
          </a:p>
        </p:txBody>
      </p:sp>
      <p:sp>
        <p:nvSpPr>
          <p:cNvPr id="3" name="TextBox 2">
            <a:extLst>
              <a:ext uri="{FF2B5EF4-FFF2-40B4-BE49-F238E27FC236}">
                <a16:creationId xmlns:a16="http://schemas.microsoft.com/office/drawing/2014/main" id="{99644B9B-7430-50DC-0F11-D1022783D09A}"/>
              </a:ext>
            </a:extLst>
          </p:cNvPr>
          <p:cNvSpPr txBox="1"/>
          <p:nvPr/>
        </p:nvSpPr>
        <p:spPr>
          <a:xfrm>
            <a:off x="1109816" y="6248400"/>
            <a:ext cx="203051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(Van Dijk)</a:t>
            </a:r>
          </a:p>
        </p:txBody>
      </p:sp>
    </p:spTree>
    <p:extLst>
      <p:ext uri="{BB962C8B-B14F-4D97-AF65-F5344CB8AC3E}">
        <p14:creationId xmlns:p14="http://schemas.microsoft.com/office/powerpoint/2010/main" val="38920523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2B202-C531-2F3B-06ED-90895D5D4A9B}"/>
              </a:ext>
            </a:extLst>
          </p:cNvPr>
          <p:cNvSpPr>
            <a:spLocks noGrp="1"/>
          </p:cNvSpPr>
          <p:nvPr>
            <p:ph type="title"/>
          </p:nvPr>
        </p:nvSpPr>
        <p:spPr>
          <a:xfrm>
            <a:off x="749220" y="480204"/>
            <a:ext cx="4297838" cy="702574"/>
          </a:xfrm>
        </p:spPr>
        <p:txBody>
          <a:bodyPr/>
          <a:lstStyle/>
          <a:p>
            <a:r>
              <a:rPr lang="en-US" b="1">
                <a:solidFill>
                  <a:schemeClr val="tx1"/>
                </a:solidFill>
              </a:rPr>
              <a:t>Security Controls:</a:t>
            </a:r>
          </a:p>
        </p:txBody>
      </p:sp>
      <p:graphicFrame>
        <p:nvGraphicFramePr>
          <p:cNvPr id="5" name="Content Placeholder 4">
            <a:extLst>
              <a:ext uri="{FF2B5EF4-FFF2-40B4-BE49-F238E27FC236}">
                <a16:creationId xmlns:a16="http://schemas.microsoft.com/office/drawing/2014/main" id="{848EB2B9-C34E-0105-FD1E-F5AF17F13679}"/>
              </a:ext>
            </a:extLst>
          </p:cNvPr>
          <p:cNvGraphicFramePr>
            <a:graphicFrameLocks noGrp="1"/>
          </p:cNvGraphicFramePr>
          <p:nvPr>
            <p:ph idx="1"/>
            <p:extLst>
              <p:ext uri="{D42A27DB-BD31-4B8C-83A1-F6EECF244321}">
                <p14:modId xmlns:p14="http://schemas.microsoft.com/office/powerpoint/2010/main" val="561642542"/>
              </p:ext>
            </p:extLst>
          </p:nvPr>
        </p:nvGraphicFramePr>
        <p:xfrm>
          <a:off x="747622" y="1178943"/>
          <a:ext cx="11198932" cy="4970463"/>
        </p:xfrm>
        <a:graphic>
          <a:graphicData uri="http://schemas.openxmlformats.org/drawingml/2006/table">
            <a:tbl>
              <a:tblPr firstRow="1" bandRow="1">
                <a:tableStyleId>{21E4AEA4-8DFA-4A89-87EB-49C32662AFE0}</a:tableStyleId>
              </a:tblPr>
              <a:tblGrid>
                <a:gridCol w="2219365">
                  <a:extLst>
                    <a:ext uri="{9D8B030D-6E8A-4147-A177-3AD203B41FA5}">
                      <a16:colId xmlns:a16="http://schemas.microsoft.com/office/drawing/2014/main" val="3313347804"/>
                    </a:ext>
                  </a:extLst>
                </a:gridCol>
                <a:gridCol w="8979567">
                  <a:extLst>
                    <a:ext uri="{9D8B030D-6E8A-4147-A177-3AD203B41FA5}">
                      <a16:colId xmlns:a16="http://schemas.microsoft.com/office/drawing/2014/main" val="2177106019"/>
                    </a:ext>
                  </a:extLst>
                </a:gridCol>
              </a:tblGrid>
              <a:tr h="425790">
                <a:tc>
                  <a:txBody>
                    <a:bodyPr/>
                    <a:lstStyle/>
                    <a:p>
                      <a:pPr lvl="0" algn="ctr">
                        <a:buNone/>
                      </a:pPr>
                      <a:r>
                        <a:rPr lang="en-US"/>
                        <a:t>Control Category:</a:t>
                      </a:r>
                    </a:p>
                  </a:txBody>
                  <a:tcPr>
                    <a:lnL w="12700">
                      <a:solidFill>
                        <a:schemeClr val="tx1"/>
                      </a:solidFill>
                    </a:lnL>
                    <a:lnT w="12700">
                      <a:solidFill>
                        <a:schemeClr val="tx1"/>
                      </a:solidFill>
                    </a:lnT>
                  </a:tcPr>
                </a:tc>
                <a:tc>
                  <a:txBody>
                    <a:bodyPr/>
                    <a:lstStyle/>
                    <a:p>
                      <a:pPr algn="ctr"/>
                      <a:r>
                        <a:rPr lang="en-US"/>
                        <a:t>Control Description:</a:t>
                      </a:r>
                    </a:p>
                  </a:txBody>
                  <a:tcPr>
                    <a:lnR w="12700">
                      <a:solidFill>
                        <a:schemeClr val="tx1"/>
                      </a:solidFill>
                    </a:lnR>
                    <a:lnT w="12700">
                      <a:solidFill>
                        <a:schemeClr val="tx1"/>
                      </a:solidFill>
                    </a:lnT>
                  </a:tcPr>
                </a:tc>
                <a:extLst>
                  <a:ext uri="{0D108BD9-81ED-4DB2-BD59-A6C34878D82A}">
                    <a16:rowId xmlns:a16="http://schemas.microsoft.com/office/drawing/2014/main" val="65149374"/>
                  </a:ext>
                </a:extLst>
              </a:tr>
              <a:tr h="492693">
                <a:tc>
                  <a:txBody>
                    <a:bodyPr/>
                    <a:lstStyle/>
                    <a:p>
                      <a:r>
                        <a:rPr lang="en-US"/>
                        <a:t>Managerial</a:t>
                      </a:r>
                    </a:p>
                  </a:txBody>
                  <a:tcPr>
                    <a:lnL w="12700">
                      <a:solidFill>
                        <a:schemeClr val="tx1"/>
                      </a:solidFill>
                    </a:lnL>
                  </a:tcPr>
                </a:tc>
                <a:tc>
                  <a:txBody>
                    <a:bodyPr/>
                    <a:lstStyle/>
                    <a:p>
                      <a:r>
                        <a:rPr lang="en-US"/>
                        <a:t>Create and deploy Acceptable Use Policy for all users.</a:t>
                      </a:r>
                    </a:p>
                  </a:txBody>
                  <a:tcPr>
                    <a:lnR w="12700">
                      <a:solidFill>
                        <a:schemeClr val="tx1"/>
                      </a:solidFill>
                    </a:lnR>
                  </a:tcPr>
                </a:tc>
                <a:extLst>
                  <a:ext uri="{0D108BD9-81ED-4DB2-BD59-A6C34878D82A}">
                    <a16:rowId xmlns:a16="http://schemas.microsoft.com/office/drawing/2014/main" val="232298454"/>
                  </a:ext>
                </a:extLst>
              </a:tr>
              <a:tr h="425790">
                <a:tc>
                  <a:txBody>
                    <a:bodyPr/>
                    <a:lstStyle/>
                    <a:p>
                      <a:r>
                        <a:rPr lang="en-US"/>
                        <a:t>Operational</a:t>
                      </a:r>
                    </a:p>
                  </a:txBody>
                  <a:tcPr>
                    <a:lnL w="12700">
                      <a:solidFill>
                        <a:schemeClr val="tx1"/>
                      </a:solidFill>
                    </a:lnL>
                  </a:tcPr>
                </a:tc>
                <a:tc>
                  <a:txBody>
                    <a:bodyPr/>
                    <a:lstStyle/>
                    <a:p>
                      <a:r>
                        <a:rPr lang="en-US"/>
                        <a:t>Develop training programs for staff and users.</a:t>
                      </a:r>
                    </a:p>
                  </a:txBody>
                  <a:tcPr>
                    <a:lnR w="12700">
                      <a:solidFill>
                        <a:schemeClr val="tx1"/>
                      </a:solidFill>
                    </a:lnR>
                  </a:tcPr>
                </a:tc>
                <a:extLst>
                  <a:ext uri="{0D108BD9-81ED-4DB2-BD59-A6C34878D82A}">
                    <a16:rowId xmlns:a16="http://schemas.microsoft.com/office/drawing/2014/main" val="985025945"/>
                  </a:ext>
                </a:extLst>
              </a:tr>
              <a:tr h="516154">
                <a:tc>
                  <a:txBody>
                    <a:bodyPr/>
                    <a:lstStyle/>
                    <a:p>
                      <a:r>
                        <a:rPr lang="en-US"/>
                        <a:t>Technical</a:t>
                      </a:r>
                    </a:p>
                  </a:txBody>
                  <a:tcPr>
                    <a:lnL w="12700">
                      <a:solidFill>
                        <a:schemeClr val="tx1"/>
                      </a:solidFill>
                    </a:lnL>
                  </a:tcPr>
                </a:tc>
                <a:tc>
                  <a:txBody>
                    <a:bodyPr/>
                    <a:lstStyle/>
                    <a:p>
                      <a:r>
                        <a:rPr lang="en-US"/>
                        <a:t>Install and configure systems in zero trust architecture to prevent malicious communications and unauthorized access.</a:t>
                      </a:r>
                    </a:p>
                  </a:txBody>
                  <a:tcPr>
                    <a:lnR w="12700">
                      <a:solidFill>
                        <a:schemeClr val="tx1"/>
                      </a:solidFill>
                    </a:lnR>
                  </a:tcPr>
                </a:tc>
                <a:extLst>
                  <a:ext uri="{0D108BD9-81ED-4DB2-BD59-A6C34878D82A}">
                    <a16:rowId xmlns:a16="http://schemas.microsoft.com/office/drawing/2014/main" val="2774768303"/>
                  </a:ext>
                </a:extLst>
              </a:tr>
              <a:tr h="474223">
                <a:tc>
                  <a:txBody>
                    <a:bodyPr/>
                    <a:lstStyle/>
                    <a:p>
                      <a:r>
                        <a:rPr lang="en-US"/>
                        <a:t>Physical</a:t>
                      </a:r>
                    </a:p>
                  </a:txBody>
                  <a:tcPr>
                    <a:lnL w="12700">
                      <a:solidFill>
                        <a:schemeClr val="tx1"/>
                      </a:solidFill>
                    </a:lnL>
                  </a:tcPr>
                </a:tc>
                <a:tc>
                  <a:txBody>
                    <a:bodyPr/>
                    <a:lstStyle/>
                    <a:p>
                      <a:r>
                        <a:rPr lang="en-US"/>
                        <a:t>Hiring security staff, installing equipment to prevent physical access to enterprise systems.</a:t>
                      </a:r>
                    </a:p>
                  </a:txBody>
                  <a:tcPr>
                    <a:lnR w="12700">
                      <a:solidFill>
                        <a:schemeClr val="tx1"/>
                      </a:solidFill>
                    </a:lnR>
                  </a:tcPr>
                </a:tc>
                <a:extLst>
                  <a:ext uri="{0D108BD9-81ED-4DB2-BD59-A6C34878D82A}">
                    <a16:rowId xmlns:a16="http://schemas.microsoft.com/office/drawing/2014/main" val="597536189"/>
                  </a:ext>
                </a:extLst>
              </a:tr>
              <a:tr h="425790">
                <a:tc>
                  <a:txBody>
                    <a:bodyPr/>
                    <a:lstStyle/>
                    <a:p>
                      <a:pPr lvl="0">
                        <a:buNone/>
                      </a:pPr>
                      <a:r>
                        <a:rPr lang="en-US"/>
                        <a:t>Detective</a:t>
                      </a:r>
                    </a:p>
                  </a:txBody>
                  <a:tcPr>
                    <a:lnL w="12700">
                      <a:solidFill>
                        <a:schemeClr val="tx1"/>
                      </a:solidFill>
                    </a:lnL>
                  </a:tcPr>
                </a:tc>
                <a:tc>
                  <a:txBody>
                    <a:bodyPr/>
                    <a:lstStyle/>
                    <a:p>
                      <a:pPr lvl="0">
                        <a:buNone/>
                      </a:pPr>
                      <a:r>
                        <a:rPr lang="en-US"/>
                        <a:t>Using SIEM systems, incident response teams to discover potential unauthorized or malicious activity.</a:t>
                      </a:r>
                    </a:p>
                  </a:txBody>
                  <a:tcPr>
                    <a:lnR w="12700">
                      <a:solidFill>
                        <a:schemeClr val="tx1"/>
                      </a:solidFill>
                    </a:lnR>
                  </a:tcPr>
                </a:tc>
                <a:extLst>
                  <a:ext uri="{0D108BD9-81ED-4DB2-BD59-A6C34878D82A}">
                    <a16:rowId xmlns:a16="http://schemas.microsoft.com/office/drawing/2014/main" val="1167673557"/>
                  </a:ext>
                </a:extLst>
              </a:tr>
              <a:tr h="425790">
                <a:tc>
                  <a:txBody>
                    <a:bodyPr/>
                    <a:lstStyle/>
                    <a:p>
                      <a:pPr lvl="0">
                        <a:buNone/>
                      </a:pPr>
                      <a:r>
                        <a:rPr lang="en-US"/>
                        <a:t>Corrective</a:t>
                      </a:r>
                    </a:p>
                  </a:txBody>
                  <a:tcPr>
                    <a:lnL w="12700">
                      <a:solidFill>
                        <a:schemeClr val="tx1"/>
                      </a:solidFill>
                    </a:lnL>
                  </a:tcPr>
                </a:tc>
                <a:tc>
                  <a:txBody>
                    <a:bodyPr/>
                    <a:lstStyle/>
                    <a:p>
                      <a:pPr lvl="0">
                        <a:buNone/>
                      </a:pPr>
                      <a:r>
                        <a:rPr lang="en-US"/>
                        <a:t>Deploy SOAR, other systems, and incident response teams to mitigate damage to data and systems.</a:t>
                      </a:r>
                    </a:p>
                  </a:txBody>
                  <a:tcPr>
                    <a:lnR w="12700">
                      <a:solidFill>
                        <a:schemeClr val="tx1"/>
                      </a:solidFill>
                    </a:lnR>
                  </a:tcPr>
                </a:tc>
                <a:extLst>
                  <a:ext uri="{0D108BD9-81ED-4DB2-BD59-A6C34878D82A}">
                    <a16:rowId xmlns:a16="http://schemas.microsoft.com/office/drawing/2014/main" val="2918818345"/>
                  </a:ext>
                </a:extLst>
              </a:tr>
              <a:tr h="425790">
                <a:tc>
                  <a:txBody>
                    <a:bodyPr/>
                    <a:lstStyle/>
                    <a:p>
                      <a:pPr lvl="0">
                        <a:buNone/>
                      </a:pPr>
                      <a:r>
                        <a:rPr lang="en-US"/>
                        <a:t>Preventive</a:t>
                      </a:r>
                    </a:p>
                  </a:txBody>
                  <a:tcPr>
                    <a:lnL w="12700">
                      <a:solidFill>
                        <a:schemeClr val="tx1"/>
                      </a:solidFill>
                    </a:lnL>
                  </a:tcPr>
                </a:tc>
                <a:tc>
                  <a:txBody>
                    <a:bodyPr/>
                    <a:lstStyle/>
                    <a:p>
                      <a:pPr lvl="0">
                        <a:buNone/>
                      </a:pPr>
                      <a:r>
                        <a:rPr lang="en-US"/>
                        <a:t>Install and configure resources (firewall, anti-malware, UTM) to block and inhibit malicious events from occurring.</a:t>
                      </a:r>
                    </a:p>
                  </a:txBody>
                  <a:tcPr>
                    <a:lnR w="12700">
                      <a:solidFill>
                        <a:schemeClr val="tx1"/>
                      </a:solidFill>
                    </a:lnR>
                  </a:tcPr>
                </a:tc>
                <a:extLst>
                  <a:ext uri="{0D108BD9-81ED-4DB2-BD59-A6C34878D82A}">
                    <a16:rowId xmlns:a16="http://schemas.microsoft.com/office/drawing/2014/main" val="3488155558"/>
                  </a:ext>
                </a:extLst>
              </a:tr>
              <a:tr h="425790">
                <a:tc>
                  <a:txBody>
                    <a:bodyPr/>
                    <a:lstStyle/>
                    <a:p>
                      <a:pPr lvl="0">
                        <a:buNone/>
                      </a:pPr>
                      <a:r>
                        <a:rPr lang="en-US"/>
                        <a:t>Directive</a:t>
                      </a:r>
                    </a:p>
                  </a:txBody>
                  <a:tcPr>
                    <a:lnL w="12700">
                      <a:solidFill>
                        <a:schemeClr val="tx1"/>
                      </a:solidFill>
                    </a:lnL>
                    <a:lnB w="12700">
                      <a:solidFill>
                        <a:schemeClr val="tx1"/>
                      </a:solidFill>
                    </a:lnB>
                  </a:tcPr>
                </a:tc>
                <a:tc>
                  <a:txBody>
                    <a:bodyPr/>
                    <a:lstStyle/>
                    <a:p>
                      <a:pPr lvl="0">
                        <a:buNone/>
                      </a:pPr>
                      <a:r>
                        <a:rPr lang="en-US"/>
                        <a:t>Create plans to train staff, respond and recover from incidents in a timely manner.</a:t>
                      </a:r>
                    </a:p>
                  </a:txBody>
                  <a:tcPr>
                    <a:lnR w="12700">
                      <a:solidFill>
                        <a:schemeClr val="tx1"/>
                      </a:solidFill>
                    </a:lnR>
                    <a:lnB w="12700">
                      <a:solidFill>
                        <a:schemeClr val="tx1"/>
                      </a:solidFill>
                    </a:lnB>
                  </a:tcPr>
                </a:tc>
                <a:extLst>
                  <a:ext uri="{0D108BD9-81ED-4DB2-BD59-A6C34878D82A}">
                    <a16:rowId xmlns:a16="http://schemas.microsoft.com/office/drawing/2014/main" val="2098416846"/>
                  </a:ext>
                </a:extLst>
              </a:tr>
            </a:tbl>
          </a:graphicData>
        </a:graphic>
      </p:graphicFrame>
      <p:sp>
        <p:nvSpPr>
          <p:cNvPr id="4" name="Slide Number Placeholder 3">
            <a:extLst>
              <a:ext uri="{FF2B5EF4-FFF2-40B4-BE49-F238E27FC236}">
                <a16:creationId xmlns:a16="http://schemas.microsoft.com/office/drawing/2014/main" id="{3DA82F8E-364A-DD86-C718-F8BE48954E72}"/>
              </a:ext>
            </a:extLst>
          </p:cNvPr>
          <p:cNvSpPr>
            <a:spLocks noGrp="1"/>
          </p:cNvSpPr>
          <p:nvPr>
            <p:ph type="sldNum" sz="quarter" idx="12"/>
          </p:nvPr>
        </p:nvSpPr>
        <p:spPr/>
        <p:txBody>
          <a:bodyPr/>
          <a:lstStyle/>
          <a:p>
            <a:fld id="{4F9E8B95-D1A7-41C3-AE42-803D7923C3C7}" type="slidenum">
              <a:rPr lang="en-US" smtClean="0"/>
              <a:t>9</a:t>
            </a:fld>
            <a:endParaRPr lang="en-US"/>
          </a:p>
        </p:txBody>
      </p:sp>
      <p:sp>
        <p:nvSpPr>
          <p:cNvPr id="3" name="TextBox 2">
            <a:extLst>
              <a:ext uri="{FF2B5EF4-FFF2-40B4-BE49-F238E27FC236}">
                <a16:creationId xmlns:a16="http://schemas.microsoft.com/office/drawing/2014/main" id="{773F26F2-FEFC-68D8-EA65-E106F3DA3E41}"/>
              </a:ext>
            </a:extLst>
          </p:cNvPr>
          <p:cNvSpPr txBox="1"/>
          <p:nvPr/>
        </p:nvSpPr>
        <p:spPr>
          <a:xfrm>
            <a:off x="740093" y="6262329"/>
            <a:ext cx="22582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Ciampa, 2025</a:t>
            </a:r>
          </a:p>
        </p:txBody>
      </p:sp>
    </p:spTree>
    <p:extLst>
      <p:ext uri="{BB962C8B-B14F-4D97-AF65-F5344CB8AC3E}">
        <p14:creationId xmlns:p14="http://schemas.microsoft.com/office/powerpoint/2010/main" val="31438433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815A7B4-532E-48C9-AC24-D78ACF333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14" name="Freeform 14">
              <a:extLst>
                <a:ext uri="{FF2B5EF4-FFF2-40B4-BE49-F238E27FC236}">
                  <a16:creationId xmlns:a16="http://schemas.microsoft.com/office/drawing/2014/main" id="{D40109F4-CE5C-45F4-856E-F3F69C9F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3CBAA4DE-3D7B-460B-AE98-D9F9990C0B6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BF1ED3E-4F80-4AF6-A41B-44F53DDE610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C0B2D747-3E31-45C5-9A98-A9710A585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A15FD4BA-3020-462D-8BE8-B3A65B8E4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A304284A-7318-4DD5-898C-2F6B23C778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9DF48E66-B635-4509-B115-E0987C01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E3B96D94-5F5A-4F4C-810C-917BF4D26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9">
              <a:extLst>
                <a:ext uri="{FF2B5EF4-FFF2-40B4-BE49-F238E27FC236}">
                  <a16:creationId xmlns:a16="http://schemas.microsoft.com/office/drawing/2014/main" id="{7F3782D6-BFF8-4389-9D39-A023ADAA9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ECE162D4-FCAE-441B-B5E9-C91DE6212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44F4B36E-E3AA-2A9C-DF3F-D8DEDA71E756}"/>
              </a:ext>
            </a:extLst>
          </p:cNvPr>
          <p:cNvSpPr>
            <a:spLocks noGrp="1"/>
          </p:cNvSpPr>
          <p:nvPr>
            <p:ph type="title"/>
          </p:nvPr>
        </p:nvSpPr>
        <p:spPr>
          <a:xfrm>
            <a:off x="1125747" y="517584"/>
            <a:ext cx="9499725" cy="742600"/>
          </a:xfrm>
        </p:spPr>
        <p:txBody>
          <a:bodyPr vert="horz" lIns="91440" tIns="45720" rIns="91440" bIns="45720" rtlCol="0" anchor="b">
            <a:normAutofit/>
          </a:bodyPr>
          <a:lstStyle/>
          <a:p>
            <a:pPr algn="ctr">
              <a:lnSpc>
                <a:spcPct val="90000"/>
              </a:lnSpc>
            </a:pPr>
            <a:r>
              <a:rPr lang="en-US" sz="3400" b="1">
                <a:solidFill>
                  <a:schemeClr val="tx1"/>
                </a:solidFill>
              </a:rPr>
              <a:t>Control Families and Mitigating Threats:</a:t>
            </a:r>
            <a:endParaRPr lang="en-US" b="1">
              <a:solidFill>
                <a:schemeClr val="tx1"/>
              </a:solidFill>
            </a:endParaRPr>
          </a:p>
        </p:txBody>
      </p:sp>
      <p:sp>
        <p:nvSpPr>
          <p:cNvPr id="4" name="Slide Number Placeholder 3">
            <a:extLst>
              <a:ext uri="{FF2B5EF4-FFF2-40B4-BE49-F238E27FC236}">
                <a16:creationId xmlns:a16="http://schemas.microsoft.com/office/drawing/2014/main" id="{0339264C-E769-62F6-FD59-4D99067E2FAD}"/>
              </a:ext>
            </a:extLst>
          </p:cNvPr>
          <p:cNvSpPr>
            <a:spLocks noGrp="1"/>
          </p:cNvSpPr>
          <p:nvPr>
            <p:ph type="sldNum" sz="quarter" idx="12"/>
          </p:nvPr>
        </p:nvSpPr>
        <p:spPr>
          <a:xfrm>
            <a:off x="8542023" y="6352651"/>
            <a:ext cx="683339" cy="365125"/>
          </a:xfrm>
        </p:spPr>
        <p:txBody>
          <a:bodyPr vert="horz" lIns="91440" tIns="45720" rIns="91440" bIns="45720" rtlCol="0" anchor="ctr">
            <a:normAutofit/>
          </a:bodyPr>
          <a:lstStyle/>
          <a:p>
            <a:pPr>
              <a:spcAft>
                <a:spcPts val="600"/>
              </a:spcAft>
            </a:pPr>
            <a:fld id="{4F9E8B95-D1A7-41C3-AE42-803D7923C3C7}" type="slidenum">
              <a:rPr lang="en-US" smtClean="0"/>
              <a:pPr>
                <a:spcAft>
                  <a:spcPts val="600"/>
                </a:spcAft>
              </a:pPr>
              <a:t>10</a:t>
            </a:fld>
            <a:endParaRPr lang="en-US"/>
          </a:p>
        </p:txBody>
      </p:sp>
      <p:graphicFrame>
        <p:nvGraphicFramePr>
          <p:cNvPr id="8" name="Table 7">
            <a:extLst>
              <a:ext uri="{FF2B5EF4-FFF2-40B4-BE49-F238E27FC236}">
                <a16:creationId xmlns:a16="http://schemas.microsoft.com/office/drawing/2014/main" id="{61A1E4A3-D04E-B954-DB2A-95CEEA49F69C}"/>
              </a:ext>
            </a:extLst>
          </p:cNvPr>
          <p:cNvGraphicFramePr>
            <a:graphicFrameLocks noGrp="1"/>
          </p:cNvGraphicFramePr>
          <p:nvPr>
            <p:extLst>
              <p:ext uri="{D42A27DB-BD31-4B8C-83A1-F6EECF244321}">
                <p14:modId xmlns:p14="http://schemas.microsoft.com/office/powerpoint/2010/main" val="2609511335"/>
              </p:ext>
            </p:extLst>
          </p:nvPr>
        </p:nvGraphicFramePr>
        <p:xfrm>
          <a:off x="787670" y="1414732"/>
          <a:ext cx="10674269" cy="4620470"/>
        </p:xfrm>
        <a:graphic>
          <a:graphicData uri="http://schemas.openxmlformats.org/drawingml/2006/table">
            <a:tbl>
              <a:tblPr firstRow="1" bandRow="1">
                <a:tableStyleId>{21E4AEA4-8DFA-4A89-87EB-49C32662AFE0}</a:tableStyleId>
              </a:tblPr>
              <a:tblGrid>
                <a:gridCol w="1582280">
                  <a:extLst>
                    <a:ext uri="{9D8B030D-6E8A-4147-A177-3AD203B41FA5}">
                      <a16:colId xmlns:a16="http://schemas.microsoft.com/office/drawing/2014/main" val="3427305204"/>
                    </a:ext>
                  </a:extLst>
                </a:gridCol>
                <a:gridCol w="2451013">
                  <a:extLst>
                    <a:ext uri="{9D8B030D-6E8A-4147-A177-3AD203B41FA5}">
                      <a16:colId xmlns:a16="http://schemas.microsoft.com/office/drawing/2014/main" val="3760436967"/>
                    </a:ext>
                  </a:extLst>
                </a:gridCol>
                <a:gridCol w="3471315">
                  <a:extLst>
                    <a:ext uri="{9D8B030D-6E8A-4147-A177-3AD203B41FA5}">
                      <a16:colId xmlns:a16="http://schemas.microsoft.com/office/drawing/2014/main" val="594446426"/>
                    </a:ext>
                  </a:extLst>
                </a:gridCol>
                <a:gridCol w="3169661">
                  <a:extLst>
                    <a:ext uri="{9D8B030D-6E8A-4147-A177-3AD203B41FA5}">
                      <a16:colId xmlns:a16="http://schemas.microsoft.com/office/drawing/2014/main" val="4077398746"/>
                    </a:ext>
                  </a:extLst>
                </a:gridCol>
              </a:tblGrid>
              <a:tr h="282631">
                <a:tc>
                  <a:txBody>
                    <a:bodyPr/>
                    <a:lstStyle/>
                    <a:p>
                      <a:pPr algn="l"/>
                      <a:r>
                        <a:rPr lang="en-US" sz="1200" cap="none" spc="0">
                          <a:solidFill>
                            <a:schemeClr val="bg1"/>
                          </a:solidFill>
                        </a:rPr>
                        <a:t>Threat:</a:t>
                      </a:r>
                    </a:p>
                  </a:txBody>
                  <a:tcPr marL="77624" marR="59711" marT="59711" marB="59711" anchor="ctr">
                    <a:lnL w="12700">
                      <a:solidFill>
                        <a:schemeClr val="tx1"/>
                      </a:solidFill>
                    </a:lnL>
                    <a:lnT w="12700">
                      <a:solidFill>
                        <a:schemeClr val="tx1"/>
                      </a:solidFill>
                    </a:lnT>
                  </a:tcPr>
                </a:tc>
                <a:tc>
                  <a:txBody>
                    <a:bodyPr/>
                    <a:lstStyle/>
                    <a:p>
                      <a:pPr algn="l"/>
                      <a:r>
                        <a:rPr lang="en-US" sz="1200" cap="none" spc="0">
                          <a:solidFill>
                            <a:schemeClr val="bg1"/>
                          </a:solidFill>
                        </a:rPr>
                        <a:t>Examples:</a:t>
                      </a:r>
                    </a:p>
                  </a:txBody>
                  <a:tcPr marL="77624" marR="59711" marT="59711" marB="59711" anchor="ctr">
                    <a:lnT w="12700">
                      <a:solidFill>
                        <a:schemeClr val="tx1"/>
                      </a:solidFill>
                    </a:lnT>
                  </a:tcPr>
                </a:tc>
                <a:tc>
                  <a:txBody>
                    <a:bodyPr/>
                    <a:lstStyle/>
                    <a:p>
                      <a:pPr algn="l"/>
                      <a:r>
                        <a:rPr lang="en-US" sz="1200" cap="none" spc="0">
                          <a:solidFill>
                            <a:schemeClr val="bg1"/>
                          </a:solidFill>
                        </a:rPr>
                        <a:t>Mitigation Tactics:</a:t>
                      </a:r>
                    </a:p>
                  </a:txBody>
                  <a:tcPr marL="77624" marR="59711" marT="59711" marB="59711" anchor="ctr">
                    <a:lnT w="12700">
                      <a:solidFill>
                        <a:schemeClr val="tx1"/>
                      </a:solidFill>
                    </a:lnT>
                  </a:tcPr>
                </a:tc>
                <a:tc>
                  <a:txBody>
                    <a:bodyPr/>
                    <a:lstStyle/>
                    <a:p>
                      <a:pPr algn="l"/>
                      <a:r>
                        <a:rPr lang="en-US" sz="1200" cap="none" spc="0">
                          <a:solidFill>
                            <a:schemeClr val="bg1"/>
                          </a:solidFill>
                        </a:rPr>
                        <a:t>Control Families:</a:t>
                      </a:r>
                    </a:p>
                  </a:txBody>
                  <a:tcPr marL="77624" marR="59711" marT="59711" marB="59711" anchor="ctr">
                    <a:lnR w="12700">
                      <a:solidFill>
                        <a:schemeClr val="tx1"/>
                      </a:solidFill>
                    </a:lnR>
                    <a:lnT w="12700">
                      <a:solidFill>
                        <a:schemeClr val="tx1"/>
                      </a:solidFill>
                    </a:lnT>
                  </a:tcPr>
                </a:tc>
                <a:extLst>
                  <a:ext uri="{0D108BD9-81ED-4DB2-BD59-A6C34878D82A}">
                    <a16:rowId xmlns:a16="http://schemas.microsoft.com/office/drawing/2014/main" val="2032982155"/>
                  </a:ext>
                </a:extLst>
              </a:tr>
              <a:tr h="839932">
                <a:tc>
                  <a:txBody>
                    <a:bodyPr/>
                    <a:lstStyle/>
                    <a:p>
                      <a:pPr algn="l"/>
                      <a:r>
                        <a:rPr lang="en-US" sz="1200" b="1" cap="none" spc="0">
                          <a:solidFill>
                            <a:srgbClr val="000000"/>
                          </a:solidFill>
                        </a:rPr>
                        <a:t>Malware</a:t>
                      </a:r>
                    </a:p>
                  </a:txBody>
                  <a:tcPr marL="77624" marR="59711" marT="59711" marB="59711" anchor="ctr">
                    <a:lnL w="12700">
                      <a:solidFill>
                        <a:schemeClr val="tx1"/>
                      </a:solidFill>
                    </a:lnL>
                  </a:tcPr>
                </a:tc>
                <a:tc>
                  <a:txBody>
                    <a:bodyPr/>
                    <a:lstStyle/>
                    <a:p>
                      <a:pPr algn="l"/>
                      <a:r>
                        <a:rPr lang="en-US" sz="1200" cap="none" spc="0">
                          <a:solidFill>
                            <a:srgbClr val="000000"/>
                          </a:solidFill>
                        </a:rPr>
                        <a:t>-Virus</a:t>
                      </a:r>
                      <a:br>
                        <a:rPr lang="en-US" sz="1200" cap="none" spc="0">
                          <a:solidFill>
                            <a:srgbClr val="000000"/>
                          </a:solidFill>
                        </a:rPr>
                      </a:br>
                      <a:r>
                        <a:rPr lang="en-US" sz="1200" cap="none" spc="0">
                          <a:solidFill>
                            <a:srgbClr val="000000"/>
                          </a:solidFill>
                        </a:rPr>
                        <a:t>-Worms</a:t>
                      </a:r>
                      <a:br>
                        <a:rPr lang="en-US" sz="1200" cap="none" spc="0">
                          <a:solidFill>
                            <a:srgbClr val="000000"/>
                          </a:solidFill>
                        </a:rPr>
                      </a:br>
                      <a:r>
                        <a:rPr lang="en-US" sz="1200" cap="none" spc="0">
                          <a:solidFill>
                            <a:srgbClr val="000000"/>
                          </a:solidFill>
                        </a:rPr>
                        <a:t>-Rootkits</a:t>
                      </a:r>
                    </a:p>
                  </a:txBody>
                  <a:tcPr marL="77624" marR="59711" marT="59711" marB="59711" anchor="ctr"/>
                </a:tc>
                <a:tc>
                  <a:txBody>
                    <a:bodyPr/>
                    <a:lstStyle/>
                    <a:p>
                      <a:pPr algn="l"/>
                      <a:r>
                        <a:rPr lang="en-US" sz="1200" cap="none" spc="0">
                          <a:solidFill>
                            <a:srgbClr val="000000"/>
                          </a:solidFill>
                        </a:rPr>
                        <a:t>-Train users to avoid unauthorized software that contains malware.</a:t>
                      </a:r>
                      <a:br>
                        <a:rPr lang="en-US" sz="1200" cap="none" spc="0">
                          <a:solidFill>
                            <a:srgbClr val="000000"/>
                          </a:solidFill>
                        </a:rPr>
                      </a:br>
                      <a:r>
                        <a:rPr lang="en-US" sz="1200" cap="none" spc="0">
                          <a:solidFill>
                            <a:srgbClr val="000000"/>
                          </a:solidFill>
                        </a:rPr>
                        <a:t>-Whitelist approved software for use.</a:t>
                      </a:r>
                      <a:br>
                        <a:rPr lang="en-US" sz="1200" cap="none" spc="0">
                          <a:solidFill>
                            <a:srgbClr val="000000"/>
                          </a:solidFill>
                        </a:rPr>
                      </a:br>
                      <a:r>
                        <a:rPr lang="en-US" sz="1200" cap="none" spc="0">
                          <a:solidFill>
                            <a:srgbClr val="000000"/>
                          </a:solidFill>
                        </a:rPr>
                        <a:t>-Deploy web content filters.</a:t>
                      </a:r>
                      <a:br>
                        <a:rPr lang="en-US" sz="1200" cap="none" spc="0">
                          <a:solidFill>
                            <a:srgbClr val="000000"/>
                          </a:solidFill>
                        </a:rPr>
                      </a:br>
                      <a:r>
                        <a:rPr lang="en-US" sz="1200" cap="none" spc="0">
                          <a:solidFill>
                            <a:srgbClr val="000000"/>
                          </a:solidFill>
                        </a:rPr>
                        <a:t>-Install anti-malware solutions</a:t>
                      </a:r>
                    </a:p>
                  </a:txBody>
                  <a:tcPr marL="77624" marR="59711" marT="59711" marB="59711" anchor="ctr"/>
                </a:tc>
                <a:tc>
                  <a:txBody>
                    <a:bodyPr/>
                    <a:lstStyle/>
                    <a:p>
                      <a:pPr algn="l"/>
                      <a:r>
                        <a:rPr lang="en-US" sz="1200" cap="none" spc="0">
                          <a:solidFill>
                            <a:srgbClr val="000000"/>
                          </a:solidFill>
                        </a:rPr>
                        <a:t>-Program Management</a:t>
                      </a:r>
                      <a:br>
                        <a:rPr lang="en-US" sz="1200" cap="none" spc="0">
                          <a:solidFill>
                            <a:srgbClr val="000000"/>
                          </a:solidFill>
                        </a:rPr>
                      </a:br>
                      <a:r>
                        <a:rPr lang="en-US" sz="1200" cap="none" spc="0">
                          <a:solidFill>
                            <a:srgbClr val="000000"/>
                          </a:solidFill>
                        </a:rPr>
                        <a:t>-System and Communication Protection</a:t>
                      </a:r>
                      <a:br>
                        <a:rPr lang="en-US" sz="1200" cap="none" spc="0">
                          <a:solidFill>
                            <a:srgbClr val="000000"/>
                          </a:solidFill>
                        </a:rPr>
                      </a:br>
                      <a:r>
                        <a:rPr lang="en-US" sz="1200" cap="none" spc="0">
                          <a:solidFill>
                            <a:srgbClr val="000000"/>
                          </a:solidFill>
                        </a:rPr>
                        <a:t>-Configuration Management</a:t>
                      </a:r>
                    </a:p>
                  </a:txBody>
                  <a:tcPr marL="77624" marR="59711" marT="59711" marB="59711" anchor="ctr">
                    <a:lnR w="12700">
                      <a:solidFill>
                        <a:schemeClr val="tx1"/>
                      </a:solidFill>
                    </a:lnR>
                  </a:tcPr>
                </a:tc>
                <a:extLst>
                  <a:ext uri="{0D108BD9-81ED-4DB2-BD59-A6C34878D82A}">
                    <a16:rowId xmlns:a16="http://schemas.microsoft.com/office/drawing/2014/main" val="1480279146"/>
                  </a:ext>
                </a:extLst>
              </a:tr>
              <a:tr h="839932">
                <a:tc>
                  <a:txBody>
                    <a:bodyPr/>
                    <a:lstStyle/>
                    <a:p>
                      <a:pPr algn="l"/>
                      <a:r>
                        <a:rPr lang="en-US" sz="1200" b="1" cap="none" spc="0">
                          <a:solidFill>
                            <a:srgbClr val="000000"/>
                          </a:solidFill>
                        </a:rPr>
                        <a:t>Intruders</a:t>
                      </a:r>
                    </a:p>
                  </a:txBody>
                  <a:tcPr marL="77624" marR="59711" marT="59711" marB="59711" anchor="ctr">
                    <a:lnL w="12700">
                      <a:solidFill>
                        <a:schemeClr val="tx1"/>
                      </a:solidFill>
                    </a:lnL>
                  </a:tcPr>
                </a:tc>
                <a:tc>
                  <a:txBody>
                    <a:bodyPr/>
                    <a:lstStyle/>
                    <a:p>
                      <a:pPr algn="l"/>
                      <a:r>
                        <a:rPr lang="en-US" sz="1200" cap="none" spc="0">
                          <a:solidFill>
                            <a:srgbClr val="000000"/>
                          </a:solidFill>
                        </a:rPr>
                        <a:t>-Hacktivists</a:t>
                      </a:r>
                      <a:br>
                        <a:rPr lang="en-US" sz="1200" cap="none" spc="0">
                          <a:solidFill>
                            <a:srgbClr val="000000"/>
                          </a:solidFill>
                        </a:rPr>
                      </a:br>
                      <a:r>
                        <a:rPr lang="en-US" sz="1200" cap="none" spc="0">
                          <a:solidFill>
                            <a:srgbClr val="000000"/>
                          </a:solidFill>
                        </a:rPr>
                        <a:t>-Cybercriminals</a:t>
                      </a:r>
                      <a:br>
                        <a:rPr lang="en-US" sz="1200" cap="none" spc="0">
                          <a:solidFill>
                            <a:srgbClr val="000000"/>
                          </a:solidFill>
                        </a:rPr>
                      </a:br>
                      <a:r>
                        <a:rPr lang="en-US" sz="1200" cap="none" spc="0">
                          <a:solidFill>
                            <a:srgbClr val="000000"/>
                          </a:solidFill>
                        </a:rPr>
                        <a:t>-Black Hats</a:t>
                      </a:r>
                    </a:p>
                  </a:txBody>
                  <a:tcPr marL="77624" marR="59711" marT="59711" marB="59711" anchor="ctr"/>
                </a:tc>
                <a:tc>
                  <a:txBody>
                    <a:bodyPr/>
                    <a:lstStyle/>
                    <a:p>
                      <a:pPr algn="l"/>
                      <a:r>
                        <a:rPr lang="en-US" sz="1200" cap="none" spc="0">
                          <a:solidFill>
                            <a:srgbClr val="000000"/>
                          </a:solidFill>
                        </a:rPr>
                        <a:t>'-Perform Vulnerability Scanning</a:t>
                      </a:r>
                      <a:br>
                        <a:rPr lang="en-US" sz="1200" cap="none" spc="0">
                          <a:solidFill>
                            <a:srgbClr val="000000"/>
                          </a:solidFill>
                        </a:rPr>
                      </a:br>
                      <a:r>
                        <a:rPr lang="en-US" sz="1200" cap="none" spc="0">
                          <a:solidFill>
                            <a:srgbClr val="000000"/>
                          </a:solidFill>
                        </a:rPr>
                        <a:t>-Use Intrusion Prevention Systems</a:t>
                      </a:r>
                      <a:br>
                        <a:rPr lang="en-US" sz="1200" cap="none" spc="0">
                          <a:solidFill>
                            <a:srgbClr val="000000"/>
                          </a:solidFill>
                        </a:rPr>
                      </a:br>
                      <a:r>
                        <a:rPr lang="en-US" sz="1200" cap="none" spc="0">
                          <a:solidFill>
                            <a:srgbClr val="000000"/>
                          </a:solidFill>
                        </a:rPr>
                        <a:t>-Encrypt Data in all states</a:t>
                      </a:r>
                    </a:p>
                    <a:p>
                      <a:pPr lvl="0" algn="l">
                        <a:buNone/>
                      </a:pPr>
                      <a:r>
                        <a:rPr lang="en-US" sz="1200" cap="none" spc="0">
                          <a:solidFill>
                            <a:srgbClr val="000000"/>
                          </a:solidFill>
                        </a:rPr>
                        <a:t>-Use principle of Least Privilege</a:t>
                      </a:r>
                    </a:p>
                    <a:p>
                      <a:pPr lvl="0" algn="l">
                        <a:buNone/>
                      </a:pPr>
                      <a:r>
                        <a:rPr lang="en-US" sz="1200" cap="none" spc="0">
                          <a:solidFill>
                            <a:srgbClr val="000000"/>
                          </a:solidFill>
                        </a:rPr>
                        <a:t>-Event Logging</a:t>
                      </a:r>
                    </a:p>
                  </a:txBody>
                  <a:tcPr marL="77624" marR="59711" marT="59711" marB="59711" anchor="ctr"/>
                </a:tc>
                <a:tc>
                  <a:txBody>
                    <a:bodyPr/>
                    <a:lstStyle/>
                    <a:p>
                      <a:pPr algn="l"/>
                      <a:r>
                        <a:rPr lang="en-US" sz="1200" cap="none" spc="0">
                          <a:solidFill>
                            <a:srgbClr val="000000"/>
                          </a:solidFill>
                        </a:rPr>
                        <a:t>-Physical and Environmental Protection</a:t>
                      </a:r>
                      <a:br>
                        <a:rPr lang="en-US" sz="1200" cap="none" spc="0">
                          <a:solidFill>
                            <a:srgbClr val="000000"/>
                          </a:solidFill>
                        </a:rPr>
                      </a:br>
                      <a:r>
                        <a:rPr lang="en-US" sz="1200" cap="none" spc="0">
                          <a:solidFill>
                            <a:srgbClr val="000000"/>
                          </a:solidFill>
                        </a:rPr>
                        <a:t>-Assessment, authorization and monitoring.</a:t>
                      </a:r>
                      <a:br>
                        <a:rPr lang="en-US" sz="1200" cap="none" spc="0">
                          <a:solidFill>
                            <a:srgbClr val="000000"/>
                          </a:solidFill>
                        </a:rPr>
                      </a:br>
                      <a:r>
                        <a:rPr lang="en-US" sz="1200" cap="none" spc="0">
                          <a:solidFill>
                            <a:srgbClr val="000000"/>
                          </a:solidFill>
                        </a:rPr>
                        <a:t>-System and Information Integrity</a:t>
                      </a:r>
                    </a:p>
                    <a:p>
                      <a:pPr lvl="0" algn="l">
                        <a:buNone/>
                      </a:pPr>
                      <a:r>
                        <a:rPr lang="en-US" sz="1200" cap="none" spc="0">
                          <a:solidFill>
                            <a:srgbClr val="000000"/>
                          </a:solidFill>
                        </a:rPr>
                        <a:t>-Access Controls</a:t>
                      </a:r>
                    </a:p>
                    <a:p>
                      <a:pPr lvl="0" algn="l">
                        <a:buNone/>
                      </a:pPr>
                      <a:r>
                        <a:rPr lang="en-US" sz="1200" cap="none" spc="0">
                          <a:solidFill>
                            <a:srgbClr val="000000"/>
                          </a:solidFill>
                        </a:rPr>
                        <a:t>-Auditing and Accountability</a:t>
                      </a:r>
                    </a:p>
                  </a:txBody>
                  <a:tcPr marL="77624" marR="59711" marT="59711" marB="59711" anchor="ctr">
                    <a:lnR w="12700">
                      <a:solidFill>
                        <a:schemeClr val="tx1"/>
                      </a:solidFill>
                    </a:lnR>
                  </a:tcPr>
                </a:tc>
                <a:extLst>
                  <a:ext uri="{0D108BD9-81ED-4DB2-BD59-A6C34878D82A}">
                    <a16:rowId xmlns:a16="http://schemas.microsoft.com/office/drawing/2014/main" val="598257612"/>
                  </a:ext>
                </a:extLst>
              </a:tr>
              <a:tr h="979257">
                <a:tc>
                  <a:txBody>
                    <a:bodyPr/>
                    <a:lstStyle/>
                    <a:p>
                      <a:pPr algn="l"/>
                      <a:r>
                        <a:rPr lang="en-US" sz="1200" b="1" cap="none" spc="0">
                          <a:solidFill>
                            <a:srgbClr val="000000"/>
                          </a:solidFill>
                        </a:rPr>
                        <a:t>Insider Threats</a:t>
                      </a:r>
                    </a:p>
                  </a:txBody>
                  <a:tcPr marL="77624" marR="59711" marT="59711" marB="59711" anchor="ctr">
                    <a:lnL w="12700">
                      <a:solidFill>
                        <a:schemeClr val="tx1"/>
                      </a:solidFill>
                    </a:lnL>
                  </a:tcPr>
                </a:tc>
                <a:tc>
                  <a:txBody>
                    <a:bodyPr/>
                    <a:lstStyle/>
                    <a:p>
                      <a:pPr algn="l"/>
                      <a:r>
                        <a:rPr lang="en-US" sz="1200" cap="none" spc="0">
                          <a:solidFill>
                            <a:srgbClr val="000000"/>
                          </a:solidFill>
                        </a:rPr>
                        <a:t>-Former Employees</a:t>
                      </a:r>
                      <a:br>
                        <a:rPr lang="en-US" sz="1200" cap="none" spc="0">
                          <a:solidFill>
                            <a:srgbClr val="000000"/>
                          </a:solidFill>
                        </a:rPr>
                      </a:br>
                      <a:r>
                        <a:rPr lang="en-US" sz="1200" cap="none" spc="0">
                          <a:solidFill>
                            <a:srgbClr val="000000"/>
                          </a:solidFill>
                        </a:rPr>
                        <a:t>-Employees lacking technical knowledge</a:t>
                      </a:r>
                      <a:br>
                        <a:rPr lang="en-US" sz="1200" cap="none" spc="0">
                          <a:solidFill>
                            <a:srgbClr val="000000"/>
                          </a:solidFill>
                        </a:rPr>
                      </a:br>
                      <a:r>
                        <a:rPr lang="en-US" sz="1200" cap="none" spc="0">
                          <a:solidFill>
                            <a:srgbClr val="000000"/>
                          </a:solidFill>
                        </a:rPr>
                        <a:t>-Supply chain/stakeholder vulnerabilities</a:t>
                      </a:r>
                    </a:p>
                  </a:txBody>
                  <a:tcPr marL="77624" marR="59711" marT="59711" marB="59711" anchor="ctr"/>
                </a:tc>
                <a:tc>
                  <a:txBody>
                    <a:bodyPr/>
                    <a:lstStyle/>
                    <a:p>
                      <a:pPr algn="l"/>
                      <a:r>
                        <a:rPr lang="en-US" sz="1200" cap="none" spc="0">
                          <a:solidFill>
                            <a:srgbClr val="000000"/>
                          </a:solidFill>
                        </a:rPr>
                        <a:t>-Personnel Security Framework</a:t>
                      </a:r>
                      <a:br>
                        <a:rPr lang="en-US" sz="1200" cap="none" spc="0">
                          <a:solidFill>
                            <a:srgbClr val="000000"/>
                          </a:solidFill>
                        </a:rPr>
                      </a:br>
                      <a:r>
                        <a:rPr lang="en-US" sz="1200" cap="none" spc="0">
                          <a:solidFill>
                            <a:srgbClr val="000000"/>
                          </a:solidFill>
                        </a:rPr>
                        <a:t>-Mandatory Access Control</a:t>
                      </a:r>
                      <a:br>
                        <a:rPr lang="en-US" sz="1200" cap="none" spc="0">
                          <a:solidFill>
                            <a:srgbClr val="000000"/>
                          </a:solidFill>
                        </a:rPr>
                      </a:br>
                      <a:r>
                        <a:rPr lang="en-US" sz="1200" cap="none" spc="0">
                          <a:solidFill>
                            <a:srgbClr val="000000"/>
                          </a:solidFill>
                        </a:rPr>
                        <a:t>-Training</a:t>
                      </a:r>
                    </a:p>
                    <a:p>
                      <a:pPr lvl="0" algn="l">
                        <a:buNone/>
                      </a:pPr>
                      <a:r>
                        <a:rPr lang="en-US" sz="1200" cap="none" spc="0">
                          <a:solidFill>
                            <a:srgbClr val="000000"/>
                          </a:solidFill>
                        </a:rPr>
                        <a:t>-Utilize Data Loss Prevention System</a:t>
                      </a:r>
                    </a:p>
                  </a:txBody>
                  <a:tcPr marL="77624" marR="59711" marT="59711" marB="59711" anchor="ctr"/>
                </a:tc>
                <a:tc>
                  <a:txBody>
                    <a:bodyPr/>
                    <a:lstStyle/>
                    <a:p>
                      <a:pPr algn="l"/>
                      <a:r>
                        <a:rPr lang="en-US" sz="1200" cap="none" spc="0">
                          <a:solidFill>
                            <a:srgbClr val="000000"/>
                          </a:solidFill>
                        </a:rPr>
                        <a:t>-Identification and Authentication</a:t>
                      </a:r>
                      <a:br>
                        <a:rPr lang="en-US" sz="1200" cap="none" spc="0">
                          <a:solidFill>
                            <a:srgbClr val="000000"/>
                          </a:solidFill>
                        </a:rPr>
                      </a:br>
                      <a:r>
                        <a:rPr lang="en-US" sz="1200" cap="none" spc="0">
                          <a:solidFill>
                            <a:srgbClr val="000000"/>
                          </a:solidFill>
                        </a:rPr>
                        <a:t>-Awareness and Training</a:t>
                      </a:r>
                      <a:br>
                        <a:rPr lang="en-US" sz="1200" cap="none" spc="0">
                          <a:solidFill>
                            <a:srgbClr val="000000"/>
                          </a:solidFill>
                        </a:rPr>
                      </a:br>
                      <a:r>
                        <a:rPr lang="en-US" sz="1200" cap="none" spc="0">
                          <a:solidFill>
                            <a:srgbClr val="000000"/>
                          </a:solidFill>
                        </a:rPr>
                        <a:t>-Contingency Planning</a:t>
                      </a:r>
                      <a:br>
                        <a:rPr lang="en-US" sz="1200" cap="none" spc="0">
                          <a:solidFill>
                            <a:srgbClr val="000000"/>
                          </a:solidFill>
                        </a:rPr>
                      </a:br>
                      <a:r>
                        <a:rPr lang="en-US" sz="1200" cap="none" spc="0">
                          <a:solidFill>
                            <a:srgbClr val="000000"/>
                          </a:solidFill>
                        </a:rPr>
                        <a:t>-Supply Chain Risk Management</a:t>
                      </a:r>
                      <a:br>
                        <a:rPr lang="en-US" sz="1200" cap="none" spc="0">
                          <a:solidFill>
                            <a:srgbClr val="000000"/>
                          </a:solidFill>
                        </a:rPr>
                      </a:br>
                      <a:r>
                        <a:rPr lang="en-US" sz="1200" cap="none" spc="0">
                          <a:solidFill>
                            <a:srgbClr val="000000"/>
                          </a:solidFill>
                        </a:rPr>
                        <a:t>-System and Service Acquisition</a:t>
                      </a:r>
                      <a:br>
                        <a:rPr lang="en-US" sz="1200" cap="none" spc="0">
                          <a:solidFill>
                            <a:srgbClr val="000000"/>
                          </a:solidFill>
                        </a:rPr>
                      </a:br>
                      <a:r>
                        <a:rPr lang="en-US" sz="1200" cap="none" spc="0">
                          <a:solidFill>
                            <a:srgbClr val="000000"/>
                          </a:solidFill>
                        </a:rPr>
                        <a:t>-Personnel Security</a:t>
                      </a:r>
                    </a:p>
                  </a:txBody>
                  <a:tcPr marL="77624" marR="59711" marT="59711" marB="59711" anchor="ctr">
                    <a:lnR w="12700">
                      <a:solidFill>
                        <a:schemeClr val="tx1"/>
                      </a:solidFill>
                    </a:lnR>
                  </a:tcPr>
                </a:tc>
                <a:extLst>
                  <a:ext uri="{0D108BD9-81ED-4DB2-BD59-A6C34878D82A}">
                    <a16:rowId xmlns:a16="http://schemas.microsoft.com/office/drawing/2014/main" val="1889916429"/>
                  </a:ext>
                </a:extLst>
              </a:tr>
              <a:tr h="700607">
                <a:tc>
                  <a:txBody>
                    <a:bodyPr/>
                    <a:lstStyle/>
                    <a:p>
                      <a:pPr algn="l"/>
                      <a:r>
                        <a:rPr lang="en-US" sz="1200" b="1" cap="none" spc="0">
                          <a:solidFill>
                            <a:srgbClr val="000000"/>
                          </a:solidFill>
                        </a:rPr>
                        <a:t>Natural Disasters</a:t>
                      </a:r>
                    </a:p>
                  </a:txBody>
                  <a:tcPr marL="77624" marR="59711" marT="59711" marB="59711" anchor="ctr">
                    <a:lnL w="12700">
                      <a:solidFill>
                        <a:schemeClr val="tx1"/>
                      </a:solidFill>
                    </a:lnL>
                    <a:lnB w="12700">
                      <a:solidFill>
                        <a:schemeClr val="tx1"/>
                      </a:solidFill>
                    </a:lnB>
                  </a:tcPr>
                </a:tc>
                <a:tc>
                  <a:txBody>
                    <a:bodyPr/>
                    <a:lstStyle/>
                    <a:p>
                      <a:pPr algn="l"/>
                      <a:r>
                        <a:rPr lang="en-US" sz="1200" cap="none" spc="0">
                          <a:solidFill>
                            <a:srgbClr val="000000"/>
                          </a:solidFill>
                        </a:rPr>
                        <a:t>Hurricanes</a:t>
                      </a:r>
                      <a:br>
                        <a:rPr lang="en-US" sz="1200" cap="none" spc="0">
                          <a:solidFill>
                            <a:srgbClr val="000000"/>
                          </a:solidFill>
                        </a:rPr>
                      </a:br>
                      <a:r>
                        <a:rPr lang="en-US" sz="1200" cap="none" spc="0">
                          <a:solidFill>
                            <a:srgbClr val="000000"/>
                          </a:solidFill>
                        </a:rPr>
                        <a:t>Tornadoes</a:t>
                      </a:r>
                      <a:br>
                        <a:rPr lang="en-US" sz="1200" cap="none" spc="0">
                          <a:solidFill>
                            <a:srgbClr val="000000"/>
                          </a:solidFill>
                        </a:rPr>
                      </a:br>
                      <a:r>
                        <a:rPr lang="en-US" sz="1200" cap="none" spc="0">
                          <a:solidFill>
                            <a:srgbClr val="000000"/>
                          </a:solidFill>
                        </a:rPr>
                        <a:t>Earthquakes</a:t>
                      </a:r>
                    </a:p>
                  </a:txBody>
                  <a:tcPr marL="77624" marR="59711" marT="59711" marB="59711" anchor="ctr">
                    <a:lnB w="12700">
                      <a:solidFill>
                        <a:schemeClr val="tx1"/>
                      </a:solidFill>
                    </a:lnB>
                  </a:tcPr>
                </a:tc>
                <a:tc>
                  <a:txBody>
                    <a:bodyPr/>
                    <a:lstStyle/>
                    <a:p>
                      <a:pPr algn="l"/>
                      <a:r>
                        <a:rPr lang="en-US" sz="1200" cap="none" spc="0">
                          <a:solidFill>
                            <a:srgbClr val="000000"/>
                          </a:solidFill>
                        </a:rPr>
                        <a:t>-Disaster Recovery Plan</a:t>
                      </a:r>
                      <a:br>
                        <a:rPr lang="en-US" sz="1200" cap="none" spc="0">
                          <a:solidFill>
                            <a:srgbClr val="000000"/>
                          </a:solidFill>
                        </a:rPr>
                      </a:br>
                      <a:r>
                        <a:rPr lang="en-US" sz="1200" cap="none" spc="0">
                          <a:solidFill>
                            <a:srgbClr val="000000"/>
                          </a:solidFill>
                        </a:rPr>
                        <a:t>-Business Continuity Plan</a:t>
                      </a:r>
                    </a:p>
                  </a:txBody>
                  <a:tcPr marL="77624" marR="59711" marT="59711" marB="59711" anchor="ctr">
                    <a:lnB w="12700">
                      <a:solidFill>
                        <a:schemeClr val="tx1"/>
                      </a:solidFill>
                    </a:lnB>
                  </a:tcPr>
                </a:tc>
                <a:tc>
                  <a:txBody>
                    <a:bodyPr/>
                    <a:lstStyle/>
                    <a:p>
                      <a:pPr algn="l"/>
                      <a:r>
                        <a:rPr lang="en-US" sz="1200" cap="none" spc="0">
                          <a:solidFill>
                            <a:srgbClr val="000000"/>
                          </a:solidFill>
                        </a:rPr>
                        <a:t>-Risk Assessment</a:t>
                      </a:r>
                      <a:br>
                        <a:rPr lang="en-US" sz="1200" cap="none" spc="0">
                          <a:solidFill>
                            <a:srgbClr val="000000"/>
                          </a:solidFill>
                        </a:rPr>
                      </a:br>
                      <a:r>
                        <a:rPr lang="en-US" sz="1200" cap="none" spc="0">
                          <a:solidFill>
                            <a:srgbClr val="000000"/>
                          </a:solidFill>
                        </a:rPr>
                        <a:t>-Planning / Contingency Planning</a:t>
                      </a:r>
                      <a:br>
                        <a:rPr lang="en-US" sz="1200" cap="none" spc="0">
                          <a:solidFill>
                            <a:srgbClr val="000000"/>
                          </a:solidFill>
                        </a:rPr>
                      </a:br>
                      <a:r>
                        <a:rPr lang="en-US" sz="1200" cap="none" spc="0">
                          <a:solidFill>
                            <a:srgbClr val="000000"/>
                          </a:solidFill>
                        </a:rPr>
                        <a:t>-PII Processing and Transparency</a:t>
                      </a:r>
                      <a:br>
                        <a:rPr lang="en-US" sz="1200" cap="none" spc="0">
                          <a:solidFill>
                            <a:srgbClr val="000000"/>
                          </a:solidFill>
                        </a:rPr>
                      </a:br>
                      <a:r>
                        <a:rPr lang="en-US" sz="1200" cap="none" spc="0">
                          <a:solidFill>
                            <a:srgbClr val="000000"/>
                          </a:solidFill>
                        </a:rPr>
                        <a:t>-Media Protection</a:t>
                      </a:r>
                    </a:p>
                    <a:p>
                      <a:pPr lvl="0" algn="l">
                        <a:buNone/>
                      </a:pPr>
                      <a:r>
                        <a:rPr lang="en-US" sz="1200" cap="none" spc="0">
                          <a:solidFill>
                            <a:srgbClr val="000000"/>
                          </a:solidFill>
                        </a:rPr>
                        <a:t>-Incident Response</a:t>
                      </a:r>
                    </a:p>
                  </a:txBody>
                  <a:tcPr marL="77624" marR="59711" marT="59711" marB="59711" anchor="ctr">
                    <a:lnR w="12700">
                      <a:solidFill>
                        <a:schemeClr val="tx1"/>
                      </a:solidFill>
                    </a:lnR>
                    <a:lnB w="12700">
                      <a:solidFill>
                        <a:schemeClr val="tx1"/>
                      </a:solidFill>
                    </a:lnB>
                  </a:tcPr>
                </a:tc>
                <a:extLst>
                  <a:ext uri="{0D108BD9-81ED-4DB2-BD59-A6C34878D82A}">
                    <a16:rowId xmlns:a16="http://schemas.microsoft.com/office/drawing/2014/main" val="1892810121"/>
                  </a:ext>
                </a:extLst>
              </a:tr>
            </a:tbl>
          </a:graphicData>
        </a:graphic>
      </p:graphicFrame>
    </p:spTree>
    <p:extLst>
      <p:ext uri="{BB962C8B-B14F-4D97-AF65-F5344CB8AC3E}">
        <p14:creationId xmlns:p14="http://schemas.microsoft.com/office/powerpoint/2010/main" val="23104431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CEA57-7CD8-8B8D-E4F8-43061970E725}"/>
              </a:ext>
            </a:extLst>
          </p:cNvPr>
          <p:cNvSpPr>
            <a:spLocks noGrp="1"/>
          </p:cNvSpPr>
          <p:nvPr>
            <p:ph type="title"/>
          </p:nvPr>
        </p:nvSpPr>
        <p:spPr>
          <a:xfrm>
            <a:off x="677334" y="609600"/>
            <a:ext cx="8596668" cy="961367"/>
          </a:xfrm>
        </p:spPr>
        <p:txBody>
          <a:bodyPr>
            <a:normAutofit fontScale="90000"/>
          </a:bodyPr>
          <a:lstStyle/>
          <a:p>
            <a:r>
              <a:rPr lang="en-US" b="1">
                <a:solidFill>
                  <a:schemeClr val="tx1"/>
                </a:solidFill>
              </a:rPr>
              <a:t>Contingency Planning - Business Continuity:</a:t>
            </a:r>
          </a:p>
        </p:txBody>
      </p:sp>
      <p:sp>
        <p:nvSpPr>
          <p:cNvPr id="3" name="Content Placeholder 2">
            <a:extLst>
              <a:ext uri="{FF2B5EF4-FFF2-40B4-BE49-F238E27FC236}">
                <a16:creationId xmlns:a16="http://schemas.microsoft.com/office/drawing/2014/main" id="{BC764378-50A2-22D0-77CF-7CB54B9329A9}"/>
              </a:ext>
            </a:extLst>
          </p:cNvPr>
          <p:cNvSpPr>
            <a:spLocks noGrp="1"/>
          </p:cNvSpPr>
          <p:nvPr>
            <p:ph idx="1"/>
          </p:nvPr>
        </p:nvSpPr>
        <p:spPr>
          <a:xfrm>
            <a:off x="677334" y="1571117"/>
            <a:ext cx="8596668" cy="3837641"/>
          </a:xfrm>
        </p:spPr>
        <p:txBody>
          <a:bodyPr vert="horz" lIns="91440" tIns="45720" rIns="91440" bIns="45720" rtlCol="0" anchor="t">
            <a:normAutofit/>
          </a:bodyPr>
          <a:lstStyle/>
          <a:p>
            <a:r>
              <a:rPr lang="en-US"/>
              <a:t>Maintain operations</a:t>
            </a:r>
          </a:p>
          <a:p>
            <a:r>
              <a:rPr lang="en-US"/>
              <a:t>Perform business impact analysis</a:t>
            </a:r>
          </a:p>
          <a:p>
            <a:r>
              <a:rPr lang="en-US"/>
              <a:t>Develop resilient networks</a:t>
            </a:r>
          </a:p>
          <a:p>
            <a:r>
              <a:rPr lang="en-US"/>
              <a:t>Plan incident response and recovery (RTO and RPO)</a:t>
            </a:r>
          </a:p>
          <a:p>
            <a:r>
              <a:rPr lang="en-US"/>
              <a:t>Deploy backup data scheme like journaling</a:t>
            </a:r>
          </a:p>
          <a:p>
            <a:r>
              <a:rPr lang="en-US"/>
              <a:t>Replicate processes and systems for high availability</a:t>
            </a:r>
          </a:p>
          <a:p>
            <a:r>
              <a:rPr lang="en-US"/>
              <a:t>Value assets to insure data and inventory</a:t>
            </a:r>
          </a:p>
          <a:p>
            <a:r>
              <a:rPr lang="en-US"/>
              <a:t>Invest in hot site, warm site, cold site, or cloud subscription for infrastructural redundancy</a:t>
            </a:r>
          </a:p>
        </p:txBody>
      </p:sp>
      <p:sp>
        <p:nvSpPr>
          <p:cNvPr id="4" name="Slide Number Placeholder 3">
            <a:extLst>
              <a:ext uri="{FF2B5EF4-FFF2-40B4-BE49-F238E27FC236}">
                <a16:creationId xmlns:a16="http://schemas.microsoft.com/office/drawing/2014/main" id="{EC2AD3D3-B747-1147-6D0F-D61ECCA7098A}"/>
              </a:ext>
            </a:extLst>
          </p:cNvPr>
          <p:cNvSpPr>
            <a:spLocks noGrp="1"/>
          </p:cNvSpPr>
          <p:nvPr>
            <p:ph type="sldNum" sz="quarter" idx="12"/>
          </p:nvPr>
        </p:nvSpPr>
        <p:spPr/>
        <p:txBody>
          <a:bodyPr/>
          <a:lstStyle/>
          <a:p>
            <a:fld id="{4F9E8B95-D1A7-41C3-AE42-803D7923C3C7}" type="slidenum">
              <a:rPr lang="en-US" smtClean="0"/>
              <a:t>11</a:t>
            </a:fld>
            <a:endParaRPr lang="en-US"/>
          </a:p>
        </p:txBody>
      </p:sp>
      <p:pic>
        <p:nvPicPr>
          <p:cNvPr id="5" name="Graphic 4" descr="Upload with solid fill">
            <a:extLst>
              <a:ext uri="{FF2B5EF4-FFF2-40B4-BE49-F238E27FC236}">
                <a16:creationId xmlns:a16="http://schemas.microsoft.com/office/drawing/2014/main" id="{4CB994EF-2E99-89F4-DC0A-8BAC965D17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9781" y="1102744"/>
            <a:ext cx="1992701" cy="2050210"/>
          </a:xfrm>
          <a:prstGeom prst="rect">
            <a:avLst/>
          </a:prstGeom>
        </p:spPr>
      </p:pic>
      <p:pic>
        <p:nvPicPr>
          <p:cNvPr id="6" name="Graphic 5" descr="Upload with solid fill">
            <a:extLst>
              <a:ext uri="{FF2B5EF4-FFF2-40B4-BE49-F238E27FC236}">
                <a16:creationId xmlns:a16="http://schemas.microsoft.com/office/drawing/2014/main" id="{2857B317-9891-B05E-96F0-8586C3D719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35063" y="1907875"/>
            <a:ext cx="1992701" cy="2050210"/>
          </a:xfrm>
          <a:prstGeom prst="rect">
            <a:avLst/>
          </a:prstGeom>
        </p:spPr>
      </p:pic>
      <p:pic>
        <p:nvPicPr>
          <p:cNvPr id="7" name="Graphic 6" descr="Binary with solid fill">
            <a:extLst>
              <a:ext uri="{FF2B5EF4-FFF2-40B4-BE49-F238E27FC236}">
                <a16:creationId xmlns:a16="http://schemas.microsoft.com/office/drawing/2014/main" id="{6B7B0BF1-D23F-540F-8149-954DEC837D6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71781" y="3618782"/>
            <a:ext cx="1906437" cy="1834550"/>
          </a:xfrm>
          <a:prstGeom prst="rect">
            <a:avLst/>
          </a:prstGeom>
        </p:spPr>
      </p:pic>
    </p:spTree>
    <p:extLst>
      <p:ext uri="{BB962C8B-B14F-4D97-AF65-F5344CB8AC3E}">
        <p14:creationId xmlns:p14="http://schemas.microsoft.com/office/powerpoint/2010/main" val="42045017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027001-1B53-5729-7250-268DB8D1D48A}"/>
              </a:ext>
            </a:extLst>
          </p:cNvPr>
          <p:cNvSpPr>
            <a:spLocks noGrp="1"/>
          </p:cNvSpPr>
          <p:nvPr>
            <p:ph type="title"/>
          </p:nvPr>
        </p:nvSpPr>
        <p:spPr>
          <a:xfrm>
            <a:off x="1290405" y="181583"/>
            <a:ext cx="10197494" cy="1099457"/>
          </a:xfrm>
        </p:spPr>
        <p:txBody>
          <a:bodyPr>
            <a:normAutofit/>
          </a:bodyPr>
          <a:lstStyle/>
          <a:p>
            <a:r>
              <a:rPr lang="en-US">
                <a:solidFill>
                  <a:schemeClr val="tx1"/>
                </a:solidFill>
              </a:rPr>
              <a:t>Using NIST Control Families to Manage Risks pt.1</a:t>
            </a:r>
          </a:p>
        </p:txBody>
      </p:sp>
      <p:sp>
        <p:nvSpPr>
          <p:cNvPr id="45" name="Isosceles Triangle 44">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5E78925D-8CD4-21DD-E14C-7FDC21987C3F}"/>
              </a:ext>
            </a:extLst>
          </p:cNvPr>
          <p:cNvSpPr>
            <a:spLocks noGrp="1"/>
          </p:cNvSpPr>
          <p:nvPr>
            <p:ph type="sldNum" sz="quarter" idx="12"/>
          </p:nvPr>
        </p:nvSpPr>
        <p:spPr>
          <a:xfrm>
            <a:off x="9894532" y="6182876"/>
            <a:ext cx="683339" cy="365125"/>
          </a:xfrm>
        </p:spPr>
        <p:txBody>
          <a:bodyPr>
            <a:normAutofit/>
          </a:bodyPr>
          <a:lstStyle/>
          <a:p>
            <a:pPr>
              <a:spcAft>
                <a:spcPts val="600"/>
              </a:spcAft>
            </a:pPr>
            <a:fld id="{4F9E8B95-D1A7-41C3-AE42-803D7923C3C7}" type="slidenum">
              <a:rPr lang="en-US" smtClean="0"/>
              <a:pPr>
                <a:spcAft>
                  <a:spcPts val="600"/>
                </a:spcAft>
              </a:pPr>
              <a:t>12</a:t>
            </a:fld>
            <a:endParaRPr lang="en-US"/>
          </a:p>
        </p:txBody>
      </p:sp>
      <p:sp>
        <p:nvSpPr>
          <p:cNvPr id="46" name="Isosceles Triangle 45">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42" name="Content Placeholder 41">
            <a:extLst>
              <a:ext uri="{FF2B5EF4-FFF2-40B4-BE49-F238E27FC236}">
                <a16:creationId xmlns:a16="http://schemas.microsoft.com/office/drawing/2014/main" id="{FB5286A1-4F9A-E344-28A3-2F9F0470BC37}"/>
              </a:ext>
            </a:extLst>
          </p:cNvPr>
          <p:cNvGraphicFramePr>
            <a:graphicFrameLocks noGrp="1"/>
          </p:cNvGraphicFramePr>
          <p:nvPr>
            <p:ph idx="1"/>
            <p:extLst>
              <p:ext uri="{D42A27DB-BD31-4B8C-83A1-F6EECF244321}">
                <p14:modId xmlns:p14="http://schemas.microsoft.com/office/powerpoint/2010/main" val="2659202388"/>
              </p:ext>
            </p:extLst>
          </p:nvPr>
        </p:nvGraphicFramePr>
        <p:xfrm>
          <a:off x="609830" y="872187"/>
          <a:ext cx="10878069" cy="5898264"/>
        </p:xfrm>
        <a:graphic>
          <a:graphicData uri="http://schemas.openxmlformats.org/drawingml/2006/table">
            <a:tbl>
              <a:tblPr firstRow="1" firstCol="1" bandRow="1">
                <a:tableStyleId>{5C22544A-7EE6-4342-B048-85BDC9FD1C3A}</a:tableStyleId>
              </a:tblPr>
              <a:tblGrid>
                <a:gridCol w="1494616">
                  <a:extLst>
                    <a:ext uri="{9D8B030D-6E8A-4147-A177-3AD203B41FA5}">
                      <a16:colId xmlns:a16="http://schemas.microsoft.com/office/drawing/2014/main" val="903100277"/>
                    </a:ext>
                  </a:extLst>
                </a:gridCol>
                <a:gridCol w="2918185">
                  <a:extLst>
                    <a:ext uri="{9D8B030D-6E8A-4147-A177-3AD203B41FA5}">
                      <a16:colId xmlns:a16="http://schemas.microsoft.com/office/drawing/2014/main" val="2761241381"/>
                    </a:ext>
                  </a:extLst>
                </a:gridCol>
                <a:gridCol w="3001324">
                  <a:extLst>
                    <a:ext uri="{9D8B030D-6E8A-4147-A177-3AD203B41FA5}">
                      <a16:colId xmlns:a16="http://schemas.microsoft.com/office/drawing/2014/main" val="1784527251"/>
                    </a:ext>
                  </a:extLst>
                </a:gridCol>
                <a:gridCol w="3463944">
                  <a:extLst>
                    <a:ext uri="{9D8B030D-6E8A-4147-A177-3AD203B41FA5}">
                      <a16:colId xmlns:a16="http://schemas.microsoft.com/office/drawing/2014/main" val="404137976"/>
                    </a:ext>
                  </a:extLst>
                </a:gridCol>
              </a:tblGrid>
              <a:tr h="174803">
                <a:tc>
                  <a:txBody>
                    <a:bodyPr/>
                    <a:lstStyle/>
                    <a:p>
                      <a:pPr marL="0" marR="0">
                        <a:lnSpc>
                          <a:spcPct val="107000"/>
                        </a:lnSpc>
                        <a:spcBef>
                          <a:spcPts val="0"/>
                        </a:spcBef>
                        <a:spcAft>
                          <a:spcPts val="0"/>
                        </a:spcAft>
                      </a:pPr>
                      <a:r>
                        <a:rPr lang="en-US" sz="1200" kern="100">
                          <a:solidFill>
                            <a:schemeClr val="tx1"/>
                          </a:solidFill>
                          <a:effectLst/>
                        </a:rPr>
                        <a:t>NIST Family Controls</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1400" kern="100">
                          <a:effectLst/>
                        </a:rPr>
                        <a:t>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1400" kern="100">
                          <a:solidFill>
                            <a:schemeClr val="tx1"/>
                          </a:solidFill>
                          <a:effectLst/>
                        </a:rPr>
                        <a:t>Subcategories</a:t>
                      </a:r>
                      <a:endParaRPr lang="en-US" sz="14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600" kern="100">
                          <a:effectLst/>
                        </a:rPr>
                        <a:t> </a:t>
                      </a:r>
                      <a:endParaRPr lang="en-US" sz="6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extLst>
                  <a:ext uri="{0D108BD9-81ED-4DB2-BD59-A6C34878D82A}">
                    <a16:rowId xmlns:a16="http://schemas.microsoft.com/office/drawing/2014/main" val="1539134407"/>
                  </a:ext>
                </a:extLst>
              </a:tr>
              <a:tr h="618668">
                <a:tc>
                  <a:txBody>
                    <a:bodyPr/>
                    <a:lstStyle/>
                    <a:p>
                      <a:pPr marL="0" marR="0">
                        <a:lnSpc>
                          <a:spcPct val="107000"/>
                        </a:lnSpc>
                        <a:spcBef>
                          <a:spcPts val="0"/>
                        </a:spcBef>
                        <a:spcAft>
                          <a:spcPts val="0"/>
                        </a:spcAft>
                      </a:pPr>
                      <a:r>
                        <a:rPr lang="en-US" sz="1200" kern="100">
                          <a:solidFill>
                            <a:schemeClr val="tx1"/>
                          </a:solidFill>
                          <a:effectLst/>
                        </a:rPr>
                        <a:t>Awareness and Training </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Literacy training: All Humana employees should take role-specified trainings in the format of videos, simulations, tabletop discussions, etc. to learn the importance of cybersecurity and how to keep data safe. </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Training records: Records of Humana employee's completion of trainings will be kept to ensure they are up to date with what they need to know. These records can be used in audits and be tracked in the system.</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Policy and procedures: Humana’s expectations for how its employees should consider cybersecurity when handling data will be included in the policies. Policies for trainings will include requirements for trainings and actions taken if the requirements are not met. </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extLst>
                  <a:ext uri="{0D108BD9-81ED-4DB2-BD59-A6C34878D82A}">
                    <a16:rowId xmlns:a16="http://schemas.microsoft.com/office/drawing/2014/main" val="3729615832"/>
                  </a:ext>
                </a:extLst>
              </a:tr>
              <a:tr h="766622">
                <a:tc>
                  <a:txBody>
                    <a:bodyPr/>
                    <a:lstStyle/>
                    <a:p>
                      <a:pPr marL="0" marR="0">
                        <a:lnSpc>
                          <a:spcPct val="107000"/>
                        </a:lnSpc>
                        <a:spcBef>
                          <a:spcPts val="0"/>
                        </a:spcBef>
                        <a:spcAft>
                          <a:spcPts val="0"/>
                        </a:spcAft>
                      </a:pPr>
                      <a:r>
                        <a:rPr lang="en-US" sz="1200" kern="100">
                          <a:solidFill>
                            <a:schemeClr val="tx1"/>
                          </a:solidFill>
                          <a:effectLst/>
                        </a:rPr>
                        <a:t>Identification and Authentication</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Policy and procedures: policies will outline how credentials are used and access is granted based on the amount of privilege a Humana employee has. It will also discuss the misuse of credentials and the consequences that could happen.</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Device identification and authentication: Any device that connects to Humana’s network needs to be authenticated and identified through Network Access Control, device certificates, and multifactor authentication.</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Identification and authorization (users):</a:t>
                      </a:r>
                    </a:p>
                    <a:p>
                      <a:pPr marL="0" marR="0">
                        <a:lnSpc>
                          <a:spcPct val="107000"/>
                        </a:lnSpc>
                        <a:spcBef>
                          <a:spcPts val="0"/>
                        </a:spcBef>
                        <a:spcAft>
                          <a:spcPts val="0"/>
                        </a:spcAft>
                      </a:pPr>
                      <a:r>
                        <a:rPr lang="en-US" sz="900" kern="100">
                          <a:effectLst/>
                        </a:rPr>
                        <a:t>Users will only be able to access the systems and data that are necessary for their role. Role-Based Access Control will be implemented so the network will restrict employees who aren’t allowed based on their privilege. Two factor authentication will also be used by employees to ensure identification.</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extLst>
                  <a:ext uri="{0D108BD9-81ED-4DB2-BD59-A6C34878D82A}">
                    <a16:rowId xmlns:a16="http://schemas.microsoft.com/office/drawing/2014/main" val="2908722014"/>
                  </a:ext>
                </a:extLst>
              </a:tr>
              <a:tr h="618668">
                <a:tc>
                  <a:txBody>
                    <a:bodyPr/>
                    <a:lstStyle/>
                    <a:p>
                      <a:pPr marL="0" marR="0">
                        <a:lnSpc>
                          <a:spcPct val="107000"/>
                        </a:lnSpc>
                        <a:spcBef>
                          <a:spcPts val="0"/>
                        </a:spcBef>
                        <a:spcAft>
                          <a:spcPts val="0"/>
                        </a:spcAft>
                      </a:pPr>
                      <a:r>
                        <a:rPr lang="en-US" sz="1200" kern="100">
                          <a:solidFill>
                            <a:schemeClr val="tx1"/>
                          </a:solidFill>
                          <a:effectLst/>
                        </a:rPr>
                        <a:t>Personnel Security </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Personnel Screening: For any positions handling sensitive data like protected health information, background checks will be performed. Background checks will include work history, criminal history, and references. </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Personnel Termination: Once an employee leaves Humana, all their access to any data, systems, and buildings is revoked. All business property like identification cards and company devices will be given back to Humana.</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Policy and Procedures: policies will outline the process of onboarding and offboarding while also providing awareness for terminated employees about the risks of data leakages and violating HIPPA. </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extLst>
                  <a:ext uri="{0D108BD9-81ED-4DB2-BD59-A6C34878D82A}">
                    <a16:rowId xmlns:a16="http://schemas.microsoft.com/office/drawing/2014/main" val="4288563216"/>
                  </a:ext>
                </a:extLst>
              </a:tr>
              <a:tr h="618668">
                <a:tc>
                  <a:txBody>
                    <a:bodyPr/>
                    <a:lstStyle/>
                    <a:p>
                      <a:pPr marL="0" marR="0">
                        <a:lnSpc>
                          <a:spcPct val="107000"/>
                        </a:lnSpc>
                        <a:spcBef>
                          <a:spcPts val="0"/>
                        </a:spcBef>
                        <a:spcAft>
                          <a:spcPts val="0"/>
                        </a:spcAft>
                      </a:pPr>
                      <a:r>
                        <a:rPr lang="en-US" sz="1200" kern="100">
                          <a:solidFill>
                            <a:schemeClr val="tx1"/>
                          </a:solidFill>
                          <a:effectLst/>
                        </a:rPr>
                        <a:t>Incident Response</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Incidence Response Training: An incident response team will have specialized training on how to respond to cyberattacks and how to recognize attacks. All Humana employees should be trained on how to recognize common attacks like phishing.</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Incidence Response Testing: The Incident Response team will be tested using simulations, tabletop discussions, etc. to test their preparedness to respond to cyberattacks. A lessons-learned session will be done with the team to improve their skills. </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Policy and Procedures:</a:t>
                      </a:r>
                    </a:p>
                    <a:p>
                      <a:pPr marL="0" marR="0">
                        <a:lnSpc>
                          <a:spcPct val="107000"/>
                        </a:lnSpc>
                        <a:spcBef>
                          <a:spcPts val="0"/>
                        </a:spcBef>
                        <a:spcAft>
                          <a:spcPts val="0"/>
                        </a:spcAft>
                      </a:pPr>
                      <a:r>
                        <a:rPr lang="en-US" sz="900" kern="100">
                          <a:effectLst/>
                        </a:rPr>
                        <a:t>The policy will outline how to recognize, contain, communicate, and respond to different cyberattack scenarios. It will also guide how to document and recover from the incidents that occurred.</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extLst>
                  <a:ext uri="{0D108BD9-81ED-4DB2-BD59-A6C34878D82A}">
                    <a16:rowId xmlns:a16="http://schemas.microsoft.com/office/drawing/2014/main" val="2271083382"/>
                  </a:ext>
                </a:extLst>
              </a:tr>
              <a:tr h="766622">
                <a:tc>
                  <a:txBody>
                    <a:bodyPr/>
                    <a:lstStyle/>
                    <a:p>
                      <a:pPr marL="0" marR="0">
                        <a:lnSpc>
                          <a:spcPct val="107000"/>
                        </a:lnSpc>
                        <a:spcBef>
                          <a:spcPts val="0"/>
                        </a:spcBef>
                        <a:spcAft>
                          <a:spcPts val="0"/>
                        </a:spcAft>
                      </a:pPr>
                      <a:r>
                        <a:rPr lang="en-US" sz="1200" kern="100">
                          <a:solidFill>
                            <a:schemeClr val="tx1"/>
                          </a:solidFill>
                          <a:effectLst/>
                        </a:rPr>
                        <a:t>System and Information Integrity</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System Monitoring: Tools like Security Information and Event Management will be used to detect suspicious activities by collecting and analyzing data from users, applications, devices, and servers in real-time. Intrusion detection and prevention systems will also be used to block and detect attacks in real-time as well.</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Security Alerts Advisories and Directives: Humana will get security alerts from sources like the NIST National Vulnerability Database to stay aware of risks that could affect Humana’s systems. Security patches will also be regularly sent to devices to help reduce the risk of attackers exploiting any vulnerabilities.</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Software Firmware and Information Integrity: Humana will Implement strict rules for updating firmware and software on all devices, especially important customer databases and healthcare systems. Patches will also be regularly sent to devices to address vulnerabilities to help prevent the loss of integrity to any systems. </a:t>
                      </a:r>
                    </a:p>
                    <a:p>
                      <a:pPr marL="0" marR="0">
                        <a:lnSpc>
                          <a:spcPct val="107000"/>
                        </a:lnSpc>
                        <a:spcBef>
                          <a:spcPts val="0"/>
                        </a:spcBef>
                        <a:spcAft>
                          <a:spcPts val="0"/>
                        </a:spcAft>
                      </a:pPr>
                      <a:r>
                        <a:rPr lang="en-US" sz="900" kern="100">
                          <a:effectLst/>
                        </a:rPr>
                        <a:t> </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extLst>
                  <a:ext uri="{0D108BD9-81ED-4DB2-BD59-A6C34878D82A}">
                    <a16:rowId xmlns:a16="http://schemas.microsoft.com/office/drawing/2014/main" val="1546730678"/>
                  </a:ext>
                </a:extLst>
              </a:tr>
              <a:tr h="618668">
                <a:tc>
                  <a:txBody>
                    <a:bodyPr/>
                    <a:lstStyle/>
                    <a:p>
                      <a:pPr marL="0" marR="0">
                        <a:lnSpc>
                          <a:spcPct val="107000"/>
                        </a:lnSpc>
                        <a:spcBef>
                          <a:spcPts val="0"/>
                        </a:spcBef>
                        <a:spcAft>
                          <a:spcPts val="0"/>
                        </a:spcAft>
                      </a:pPr>
                      <a:r>
                        <a:rPr lang="en-US" sz="1200" kern="100">
                          <a:solidFill>
                            <a:schemeClr val="tx1"/>
                          </a:solidFill>
                          <a:effectLst/>
                        </a:rPr>
                        <a:t>PII Processing and Transparency</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PII Processing Purposes: Any personally identifiable information that is processed like protected health information will be documented. Humana will let its customers know that they strictly collect data for business needs and tell them how their data is used.</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Consent: Every customer will have to consent to Humana collecting and using their data. Records of consent by customers will be kept in the system for Humana and its customers to refer back to. Customers will be able to revoke their consent at any time.</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Privacy Notice: Humana’s privacy policy will outline the collections, storage, protection, and rights of the PII that is collected from customers. This notice will explicitly explain the rights that customers have over their personal data and that it can be deleted or accessed at their discretion.</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extLst>
                  <a:ext uri="{0D108BD9-81ED-4DB2-BD59-A6C34878D82A}">
                    <a16:rowId xmlns:a16="http://schemas.microsoft.com/office/drawing/2014/main" val="2727258680"/>
                  </a:ext>
                </a:extLst>
              </a:tr>
              <a:tr h="914577">
                <a:tc>
                  <a:txBody>
                    <a:bodyPr/>
                    <a:lstStyle/>
                    <a:p>
                      <a:pPr marL="0" marR="0">
                        <a:lnSpc>
                          <a:spcPct val="107000"/>
                        </a:lnSpc>
                        <a:spcBef>
                          <a:spcPts val="0"/>
                        </a:spcBef>
                        <a:spcAft>
                          <a:spcPts val="0"/>
                        </a:spcAft>
                      </a:pPr>
                      <a:r>
                        <a:rPr lang="en-US" sz="1200" kern="100">
                          <a:solidFill>
                            <a:schemeClr val="tx1"/>
                          </a:solidFill>
                          <a:effectLst/>
                        </a:rPr>
                        <a:t>Risk Assessment</a:t>
                      </a:r>
                      <a:endParaRPr lang="en-US" sz="12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Policy and Procedures: The policies will outline how Humana evaluates risks to its operations, systems, devices, and data. This will include frameworks such as the NIST Risk Management Framework and NIST Cybersecurity Framework to help manage and reduce cybersecurity risks by structuring how to identify, protect, implement, respond, and recover. </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Security Categorization: Data will be categorized by the potential impact if it is lost or breached. The levels of impact are categorized as low, medium, and high. Doing this helps Humana to prioritize important data from not-as-important data in order to secure the most critical assets. Assets that Humana has are software, hardware, and data. </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tc>
                  <a:txBody>
                    <a:bodyPr/>
                    <a:lstStyle/>
                    <a:p>
                      <a:pPr marL="0" marR="0">
                        <a:lnSpc>
                          <a:spcPct val="107000"/>
                        </a:lnSpc>
                        <a:spcBef>
                          <a:spcPts val="0"/>
                        </a:spcBef>
                        <a:spcAft>
                          <a:spcPts val="0"/>
                        </a:spcAft>
                      </a:pPr>
                      <a:r>
                        <a:rPr lang="en-US" sz="900" kern="100">
                          <a:effectLst/>
                        </a:rPr>
                        <a:t>Risk Assessment: Humana’s assets are first identified. The assets Humana has are hardware, software, and data. Hardware includes things like servers, devices, data centers, and network equipment. The software includes their customer, health record, and financial systems. Data includes health records, personally identifiable information, and financial information. Those would all be categorized as High potential impact.  </a:t>
                      </a:r>
                      <a:endParaRPr lang="en-US" sz="900" kern="100">
                        <a:effectLst/>
                        <a:latin typeface="Aptos" panose="020B0004020202020204" pitchFamily="34" charset="0"/>
                        <a:ea typeface="Aptos" panose="020B0004020202020204" pitchFamily="34" charset="0"/>
                        <a:cs typeface="Times New Roman" panose="02020603050405020304" pitchFamily="18" charset="0"/>
                      </a:endParaRPr>
                    </a:p>
                  </a:txBody>
                  <a:tcPr marL="8111" marR="8111" marT="0" marB="0"/>
                </a:tc>
                <a:extLst>
                  <a:ext uri="{0D108BD9-81ED-4DB2-BD59-A6C34878D82A}">
                    <a16:rowId xmlns:a16="http://schemas.microsoft.com/office/drawing/2014/main" val="4166503584"/>
                  </a:ext>
                </a:extLst>
              </a:tr>
            </a:tbl>
          </a:graphicData>
        </a:graphic>
      </p:graphicFrame>
    </p:spTree>
    <p:extLst>
      <p:ext uri="{BB962C8B-B14F-4D97-AF65-F5344CB8AC3E}">
        <p14:creationId xmlns:p14="http://schemas.microsoft.com/office/powerpoint/2010/main" val="38412593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F2E61-CFEE-C7B1-2CB7-6719DBD81245}"/>
              </a:ext>
            </a:extLst>
          </p:cNvPr>
          <p:cNvSpPr>
            <a:spLocks noGrp="1"/>
          </p:cNvSpPr>
          <p:nvPr>
            <p:ph type="title"/>
          </p:nvPr>
        </p:nvSpPr>
        <p:spPr>
          <a:xfrm>
            <a:off x="763523" y="85714"/>
            <a:ext cx="10664954" cy="1638573"/>
          </a:xfrm>
        </p:spPr>
        <p:txBody>
          <a:bodyPr/>
          <a:lstStyle/>
          <a:p>
            <a:r>
              <a:rPr lang="en-US">
                <a:solidFill>
                  <a:schemeClr val="tx1"/>
                </a:solidFill>
              </a:rPr>
              <a:t>Using NIST Control Families to Manage Risks pt.2</a:t>
            </a:r>
          </a:p>
        </p:txBody>
      </p:sp>
      <p:sp>
        <p:nvSpPr>
          <p:cNvPr id="3" name="Content Placeholder 2">
            <a:extLst>
              <a:ext uri="{FF2B5EF4-FFF2-40B4-BE49-F238E27FC236}">
                <a16:creationId xmlns:a16="http://schemas.microsoft.com/office/drawing/2014/main" id="{6949E34D-80CC-69EA-43F0-B83B393286FB}"/>
              </a:ext>
            </a:extLst>
          </p:cNvPr>
          <p:cNvSpPr>
            <a:spLocks noGrp="1"/>
          </p:cNvSpPr>
          <p:nvPr>
            <p:ph idx="1"/>
          </p:nvPr>
        </p:nvSpPr>
        <p:spPr>
          <a:xfrm>
            <a:off x="0" y="1022752"/>
            <a:ext cx="6096000" cy="4110962"/>
          </a:xfrm>
        </p:spPr>
        <p:txBody>
          <a:bodyPr>
            <a:noAutofit/>
          </a:bodyPr>
          <a:lstStyle/>
          <a:p>
            <a:pPr marL="0" indent="0">
              <a:buNone/>
            </a:pPr>
            <a:r>
              <a:rPr lang="en-US" sz="1100"/>
              <a:t>	Supply Chain Risk Management (SCRM)	</a:t>
            </a:r>
          </a:p>
          <a:p>
            <a:r>
              <a:rPr lang="en-US" sz="1100"/>
              <a:t>	Humana relies on medical devices, pharmaceuticals, and IT services.	</a:t>
            </a:r>
          </a:p>
          <a:p>
            <a:r>
              <a:rPr lang="en-US" sz="1100"/>
              <a:t>	SCRM policies ensure third-party vendors maintain service levels and comply with HIPAA.	</a:t>
            </a:r>
          </a:p>
          <a:p>
            <a:r>
              <a:rPr lang="en-US" sz="1100"/>
              <a:t>	Tools ensure suppliers adhere to quality and security standards, minimizing disruptions.	</a:t>
            </a:r>
          </a:p>
          <a:p>
            <a:pPr marL="0" indent="0">
              <a:buNone/>
            </a:pPr>
            <a:r>
              <a:rPr lang="en-US" sz="1100"/>
              <a:t>	Audit and Accountability	</a:t>
            </a:r>
          </a:p>
          <a:p>
            <a:r>
              <a:rPr lang="en-US" sz="1100"/>
              <a:t>   Humana protects sensitive personal health information (PHI).	</a:t>
            </a:r>
          </a:p>
          <a:p>
            <a:r>
              <a:rPr lang="en-US" sz="1100"/>
              <a:t>   Policies ensure records of data access are maintained for incident detection and response.</a:t>
            </a:r>
          </a:p>
          <a:p>
            <a:r>
              <a:rPr lang="en-US" sz="1100"/>
              <a:t>   Audit logging complies with HIPAA and helps prevent data breaches and fraud.	</a:t>
            </a:r>
          </a:p>
          <a:p>
            <a:pPr marL="0" indent="0">
              <a:buNone/>
            </a:pPr>
            <a:r>
              <a:rPr lang="en-US" sz="1100"/>
              <a:t>            Authorization and Monitoring	</a:t>
            </a:r>
          </a:p>
          <a:p>
            <a:r>
              <a:rPr lang="en-US" sz="1100"/>
              <a:t>	Policies ensure only authorized personnel access sensitive data.	</a:t>
            </a:r>
          </a:p>
          <a:p>
            <a:r>
              <a:rPr lang="en-US" sz="1100"/>
              <a:t>	Real-time monitoring tracks and flags suspicious data access, protecting privacy and compliance.	</a:t>
            </a:r>
          </a:p>
          <a:p>
            <a:pPr marL="0" indent="0">
              <a:buNone/>
            </a:pPr>
            <a:r>
              <a:rPr lang="en-US" sz="1100"/>
              <a:t>            Media Protection	</a:t>
            </a:r>
          </a:p>
          <a:p>
            <a:r>
              <a:rPr lang="en-US" sz="1100"/>
              <a:t>	Protects physical and electronic media like medical records and backup tapes.	</a:t>
            </a:r>
          </a:p>
          <a:p>
            <a:r>
              <a:rPr lang="en-US" sz="1100"/>
              <a:t>	Policies cover storage, transport, and disposal, preventing unauthorized access or loss.	</a:t>
            </a:r>
          </a:p>
          <a:p>
            <a:r>
              <a:rPr lang="en-US" sz="1100"/>
              <a:t>	Critical for HIPAA compliance and maintaining trust.</a:t>
            </a:r>
          </a:p>
          <a:p>
            <a:endParaRPr lang="en-US" sz="1100"/>
          </a:p>
        </p:txBody>
      </p:sp>
      <p:sp>
        <p:nvSpPr>
          <p:cNvPr id="4" name="Slide Number Placeholder 3">
            <a:extLst>
              <a:ext uri="{FF2B5EF4-FFF2-40B4-BE49-F238E27FC236}">
                <a16:creationId xmlns:a16="http://schemas.microsoft.com/office/drawing/2014/main" id="{1B9E7EDF-6F82-C3A0-451A-4077B0E89E2F}"/>
              </a:ext>
            </a:extLst>
          </p:cNvPr>
          <p:cNvSpPr>
            <a:spLocks noGrp="1"/>
          </p:cNvSpPr>
          <p:nvPr>
            <p:ph type="sldNum" sz="quarter" idx="12"/>
          </p:nvPr>
        </p:nvSpPr>
        <p:spPr/>
        <p:txBody>
          <a:bodyPr/>
          <a:lstStyle/>
          <a:p>
            <a:fld id="{4F9E8B95-D1A7-41C3-AE42-803D7923C3C7}" type="slidenum">
              <a:rPr lang="en-US" smtClean="0"/>
              <a:t>13</a:t>
            </a:fld>
            <a:endParaRPr lang="en-US"/>
          </a:p>
        </p:txBody>
      </p:sp>
      <p:sp>
        <p:nvSpPr>
          <p:cNvPr id="7" name="Content Placeholder 2">
            <a:extLst>
              <a:ext uri="{FF2B5EF4-FFF2-40B4-BE49-F238E27FC236}">
                <a16:creationId xmlns:a16="http://schemas.microsoft.com/office/drawing/2014/main" id="{F7A80806-1CED-B9B2-89B9-88247D600DCB}"/>
              </a:ext>
            </a:extLst>
          </p:cNvPr>
          <p:cNvSpPr txBox="1">
            <a:spLocks/>
          </p:cNvSpPr>
          <p:nvPr/>
        </p:nvSpPr>
        <p:spPr>
          <a:xfrm>
            <a:off x="6086907" y="1022752"/>
            <a:ext cx="6096000" cy="41109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l">
              <a:buNone/>
            </a:pPr>
            <a:r>
              <a:rPr lang="en-US" sz="1100">
                <a:solidFill>
                  <a:schemeClr val="tx1">
                    <a:lumMod val="75000"/>
                    <a:lumOff val="25000"/>
                  </a:schemeClr>
                </a:solidFill>
              </a:rPr>
              <a:t>        Configuration Management	</a:t>
            </a:r>
          </a:p>
          <a:p>
            <a:r>
              <a:rPr lang="en-US" sz="1100">
                <a:solidFill>
                  <a:schemeClr val="tx1">
                    <a:lumMod val="75000"/>
                    <a:lumOff val="25000"/>
                  </a:schemeClr>
                </a:solidFill>
              </a:rPr>
              <a:t>For Policies and Procedures HumanaEnsures consistency, security, and HIPAA compliance in IT systems.	</a:t>
            </a:r>
          </a:p>
          <a:p>
            <a:r>
              <a:rPr lang="en-US" sz="1100">
                <a:solidFill>
                  <a:schemeClr val="tx1">
                    <a:lumMod val="75000"/>
                    <a:lumOff val="25000"/>
                  </a:schemeClr>
                </a:solidFill>
              </a:rPr>
              <a:t>Humans Baseline Configuration Secures patient data through standardized system settings.</a:t>
            </a:r>
          </a:p>
          <a:p>
            <a:r>
              <a:rPr lang="en-US" sz="1100">
                <a:solidFill>
                  <a:schemeClr val="tx1">
                    <a:lumMod val="75000"/>
                    <a:lumOff val="25000"/>
                  </a:schemeClr>
                </a:solidFill>
              </a:rPr>
              <a:t>And the Access Restriction for Change for Humana Prevents unauthorized changes, safeguarding data integrity.</a:t>
            </a:r>
          </a:p>
          <a:p>
            <a:pPr marL="0" indent="0">
              <a:buNone/>
            </a:pPr>
            <a:r>
              <a:rPr lang="en-US" sz="1100"/>
              <a:t>        </a:t>
            </a:r>
            <a:r>
              <a:rPr lang="en-US" sz="1100">
                <a:solidFill>
                  <a:schemeClr val="tx1">
                    <a:lumMod val="75000"/>
                    <a:lumOff val="25000"/>
                  </a:schemeClr>
                </a:solidFill>
              </a:rPr>
              <a:t>System and Service Acquisition	</a:t>
            </a:r>
          </a:p>
          <a:p>
            <a:r>
              <a:rPr lang="en-US" sz="1100">
                <a:solidFill>
                  <a:schemeClr val="tx1">
                    <a:lumMod val="75000"/>
                    <a:lumOff val="25000"/>
                  </a:schemeClr>
                </a:solidFill>
              </a:rPr>
              <a:t>Humana Defines processes to ensure new systems (e.g., EHRs) meet security and privacy standards.</a:t>
            </a:r>
          </a:p>
          <a:p>
            <a:r>
              <a:rPr lang="en-US" sz="1100">
                <a:solidFill>
                  <a:schemeClr val="tx1">
                    <a:lumMod val="75000"/>
                    <a:lumOff val="25000"/>
                  </a:schemeClr>
                </a:solidFill>
              </a:rPr>
              <a:t>Allocates proper funding to protect systems handling sensitive health data.	</a:t>
            </a:r>
          </a:p>
          <a:p>
            <a:r>
              <a:rPr lang="en-US" sz="1100">
                <a:solidFill>
                  <a:schemeClr val="tx1">
                    <a:lumMod val="75000"/>
                    <a:lumOff val="25000"/>
                  </a:schemeClr>
                </a:solidFill>
              </a:rPr>
              <a:t>SDLC Follows secure development practices to minimize risks in handling patient data.</a:t>
            </a:r>
            <a:endParaRPr lang="en-US" sz="1100"/>
          </a:p>
          <a:p>
            <a:endParaRPr lang="en-US" sz="1100"/>
          </a:p>
        </p:txBody>
      </p:sp>
    </p:spTree>
    <p:extLst>
      <p:ext uri="{BB962C8B-B14F-4D97-AF65-F5344CB8AC3E}">
        <p14:creationId xmlns:p14="http://schemas.microsoft.com/office/powerpoint/2010/main" val="35551786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0BB76-C2BC-3EB4-68FF-52B2346EC2CA}"/>
              </a:ext>
            </a:extLst>
          </p:cNvPr>
          <p:cNvSpPr>
            <a:spLocks noGrp="1"/>
          </p:cNvSpPr>
          <p:nvPr>
            <p:ph type="title"/>
          </p:nvPr>
        </p:nvSpPr>
        <p:spPr>
          <a:xfrm>
            <a:off x="677334" y="609600"/>
            <a:ext cx="8596668" cy="702574"/>
          </a:xfrm>
        </p:spPr>
        <p:txBody>
          <a:bodyPr/>
          <a:lstStyle/>
          <a:p>
            <a:r>
              <a:rPr lang="en-US" b="1">
                <a:solidFill>
                  <a:schemeClr val="tx1"/>
                </a:solidFill>
              </a:rPr>
              <a:t>References</a:t>
            </a:r>
          </a:p>
        </p:txBody>
      </p:sp>
      <p:sp>
        <p:nvSpPr>
          <p:cNvPr id="3" name="Content Placeholder 2">
            <a:extLst>
              <a:ext uri="{FF2B5EF4-FFF2-40B4-BE49-F238E27FC236}">
                <a16:creationId xmlns:a16="http://schemas.microsoft.com/office/drawing/2014/main" id="{C740218E-FEA7-1621-BD3F-E7122018FDAE}"/>
              </a:ext>
            </a:extLst>
          </p:cNvPr>
          <p:cNvSpPr>
            <a:spLocks noGrp="1"/>
          </p:cNvSpPr>
          <p:nvPr>
            <p:ph idx="1"/>
          </p:nvPr>
        </p:nvSpPr>
        <p:spPr>
          <a:xfrm>
            <a:off x="677334" y="1341080"/>
            <a:ext cx="9674969" cy="4657150"/>
          </a:xfrm>
        </p:spPr>
        <p:txBody>
          <a:bodyPr vert="horz" lIns="91440" tIns="45720" rIns="91440" bIns="45720" rtlCol="0" anchor="t">
            <a:normAutofit/>
          </a:bodyPr>
          <a:lstStyle/>
          <a:p>
            <a:pPr marL="457200" indent="-457200"/>
            <a:r>
              <a:rPr lang="en-US" sz="1400">
                <a:solidFill>
                  <a:schemeClr val="tx1"/>
                </a:solidFill>
                <a:latin typeface="Calibri"/>
                <a:ea typeface="Calibri"/>
                <a:cs typeface="Calibri"/>
              </a:rPr>
              <a:t>Ciampa, M. (2025) "CompTIA Security + Guide to Network Security Fundamentals".  </a:t>
            </a:r>
            <a:r>
              <a:rPr lang="en-US" sz="1400" i="1">
                <a:solidFill>
                  <a:schemeClr val="tx1"/>
                </a:solidFill>
                <a:latin typeface="Calibri"/>
                <a:ea typeface="Calibri"/>
                <a:cs typeface="Calibri"/>
              </a:rPr>
              <a:t>Cengage. </a:t>
            </a:r>
            <a:r>
              <a:rPr lang="en-US" sz="1400">
                <a:solidFill>
                  <a:schemeClr val="tx1"/>
                </a:solidFill>
                <a:latin typeface="Calibri"/>
                <a:ea typeface="Calibri"/>
                <a:cs typeface="Calibri"/>
              </a:rPr>
              <a:t>8th Ed. Mason, OH.</a:t>
            </a:r>
          </a:p>
          <a:p>
            <a:pPr marL="457200" indent="-457200"/>
            <a:r>
              <a:rPr lang="en-US" sz="1400">
                <a:solidFill>
                  <a:schemeClr val="tx1"/>
                </a:solidFill>
                <a:latin typeface="Calibri"/>
                <a:ea typeface="Calibri"/>
                <a:cs typeface="Calibri"/>
              </a:rPr>
              <a:t>"Thousands of Humana  customers have their medical data leaked online by threat actors."  </a:t>
            </a:r>
            <a:r>
              <a:rPr lang="en-US" sz="1400" i="1" err="1">
                <a:solidFill>
                  <a:schemeClr val="tx1"/>
                </a:solidFill>
                <a:latin typeface="Calibri"/>
                <a:ea typeface="Calibri"/>
                <a:cs typeface="Calibri"/>
              </a:rPr>
              <a:t>Cybernews</a:t>
            </a:r>
            <a:r>
              <a:rPr lang="en-US" sz="1400" i="1">
                <a:solidFill>
                  <a:schemeClr val="tx1"/>
                </a:solidFill>
                <a:latin typeface="Calibri"/>
                <a:ea typeface="Calibri"/>
                <a:cs typeface="Calibri"/>
              </a:rPr>
              <a:t>.  Date Accessed:  September 19th, 2024.  </a:t>
            </a:r>
            <a:r>
              <a:rPr lang="en-US" sz="1400">
                <a:solidFill>
                  <a:schemeClr val="tx1"/>
                </a:solidFill>
                <a:latin typeface="Calibri"/>
                <a:ea typeface="Calibri"/>
                <a:cs typeface="Calibri"/>
              </a:rPr>
              <a:t>Site Accessed:  https://cybernews.com/news/humana-insurance-customers-medical-data-leaked/</a:t>
            </a:r>
            <a:endParaRPr lang="en-US" sz="1400" i="1">
              <a:solidFill>
                <a:schemeClr val="tx1"/>
              </a:solidFill>
              <a:latin typeface="Calibri"/>
              <a:ea typeface="Calibri"/>
              <a:cs typeface="Calibri"/>
            </a:endParaRPr>
          </a:p>
          <a:p>
            <a:pPr marL="457200" indent="-457200" algn="l"/>
            <a:r>
              <a:rPr lang="en-US" sz="1400" b="0" i="1">
                <a:solidFill>
                  <a:schemeClr val="tx1"/>
                </a:solidFill>
                <a:effectLst/>
                <a:latin typeface="Calibri"/>
                <a:ea typeface="Calibri"/>
                <a:cs typeface="Calibri"/>
              </a:rPr>
              <a:t>Humana</a:t>
            </a:r>
            <a:r>
              <a:rPr lang="el-GR" sz="1400" b="0" i="1">
                <a:solidFill>
                  <a:schemeClr val="tx1"/>
                </a:solidFill>
                <a:effectLst/>
                <a:latin typeface="Calibri"/>
                <a:ea typeface="Calibri"/>
                <a:cs typeface="Calibri"/>
              </a:rPr>
              <a:t>´</a:t>
            </a:r>
            <a:r>
              <a:rPr lang="en-US" sz="1400" b="0" i="1">
                <a:solidFill>
                  <a:schemeClr val="tx1"/>
                </a:solidFill>
                <a:effectLst/>
                <a:latin typeface="Calibri"/>
                <a:ea typeface="Calibri"/>
                <a:cs typeface="Calibri"/>
              </a:rPr>
              <a:t>s Impact | Environmental, Social and Governance (ESG) | Humana </a:t>
            </a:r>
            <a:r>
              <a:rPr lang="en-US" sz="1400" b="0" i="0">
                <a:solidFill>
                  <a:schemeClr val="tx1"/>
                </a:solidFill>
                <a:effectLst/>
                <a:latin typeface="Calibri"/>
                <a:ea typeface="Calibri"/>
                <a:cs typeface="Calibri"/>
              </a:rPr>
              <a:t>. (n.d.). Www.humana.com. https://www.humana.com/about/impact</a:t>
            </a:r>
            <a:endParaRPr lang="en-US" sz="1400">
              <a:solidFill>
                <a:schemeClr val="tx1"/>
              </a:solidFill>
            </a:endParaRPr>
          </a:p>
          <a:p>
            <a:pPr marL="457200" indent="-457200" algn="l"/>
            <a:r>
              <a:rPr lang="en-US" sz="1400" b="0" i="0">
                <a:solidFill>
                  <a:schemeClr val="tx1"/>
                </a:solidFill>
                <a:effectLst/>
                <a:latin typeface="Calibri"/>
                <a:ea typeface="Calibri"/>
                <a:cs typeface="Calibri"/>
              </a:rPr>
              <a:t>‌</a:t>
            </a:r>
            <a:r>
              <a:rPr lang="en-US" sz="1400" b="0" i="1">
                <a:solidFill>
                  <a:schemeClr val="tx1"/>
                </a:solidFill>
                <a:effectLst/>
                <a:latin typeface="Calibri"/>
                <a:ea typeface="Calibri"/>
                <a:cs typeface="Calibri"/>
              </a:rPr>
              <a:t>Humana Medicare Advantage Plans Review For 2024</a:t>
            </a:r>
            <a:r>
              <a:rPr lang="en-US" sz="1400" b="0" i="0">
                <a:solidFill>
                  <a:schemeClr val="tx1"/>
                </a:solidFill>
                <a:effectLst/>
                <a:latin typeface="Calibri"/>
                <a:ea typeface="Calibri"/>
                <a:cs typeface="Calibri"/>
              </a:rPr>
              <a:t>. (2023, October 26). Forbes Health. https://www.forbes.com/health/medicare/humana-medicare-advantage-review/</a:t>
            </a:r>
          </a:p>
          <a:p>
            <a:pPr marL="457200" indent="-457200" algn="l"/>
            <a:r>
              <a:rPr lang="en-US" sz="1400" b="0" i="1">
                <a:solidFill>
                  <a:schemeClr val="tx1"/>
                </a:solidFill>
                <a:effectLst/>
                <a:latin typeface="Calibri"/>
                <a:ea typeface="Calibri"/>
                <a:cs typeface="Calibri"/>
              </a:rPr>
              <a:t>Humana’s Provider Networks</a:t>
            </a:r>
            <a:r>
              <a:rPr lang="en-US" sz="1400" b="0" i="0">
                <a:solidFill>
                  <a:schemeClr val="tx1"/>
                </a:solidFill>
                <a:effectLst/>
                <a:latin typeface="Calibri"/>
                <a:ea typeface="Calibri"/>
                <a:cs typeface="Calibri"/>
              </a:rPr>
              <a:t>. (n.d.). Retrieved September 10, 2024, from </a:t>
            </a:r>
            <a:r>
              <a:rPr lang="en-US" sz="1400" b="0" i="0">
                <a:solidFill>
                  <a:schemeClr val="tx1"/>
                </a:solidFill>
                <a:effectLst/>
                <a:latin typeface="Calibri"/>
                <a:ea typeface="Calibri"/>
                <a:cs typeface="Calibri"/>
                <a:hlinkClick r:id="rId2">
                  <a:extLst>
                    <a:ext uri="{A12FA001-AC4F-418D-AE19-62706E023703}">
                      <ahyp:hlinkClr xmlns:ahyp="http://schemas.microsoft.com/office/drawing/2018/hyperlinkcolor" val="tx"/>
                    </a:ext>
                  </a:extLst>
                </a:hlinkClick>
              </a:rPr>
              <a:t>https://docushare-web.apps.external.pioneer.humana.com/Marketing/docushare-app?file=2582606</a:t>
            </a:r>
            <a:endParaRPr lang="en-US" sz="1400" b="0" i="0">
              <a:solidFill>
                <a:schemeClr val="tx1"/>
              </a:solidFill>
              <a:effectLst/>
              <a:latin typeface="Calibri" panose="020F0502020204030204" pitchFamily="34" charset="0"/>
              <a:ea typeface="Calibri"/>
              <a:cs typeface="Calibri"/>
              <a:hlinkClick r:id="" action="ppaction://noaction">
                <a:extLst>
                  <a:ext uri="{A12FA001-AC4F-418D-AE19-62706E023703}">
                    <ahyp:hlinkClr xmlns:ahyp="http://schemas.microsoft.com/office/drawing/2018/hyperlinkcolor" val="tx"/>
                  </a:ext>
                </a:extLst>
              </a:hlinkClick>
            </a:endParaRPr>
          </a:p>
          <a:p>
            <a:pPr marL="457200" indent="-457200"/>
            <a:r>
              <a:rPr lang="en-US" sz="1400">
                <a:solidFill>
                  <a:schemeClr val="tx1"/>
                </a:solidFill>
                <a:latin typeface="Calibri"/>
                <a:ea typeface="+mn-lt"/>
                <a:cs typeface="Calibri"/>
              </a:rPr>
              <a:t>"PCI DSS Quick Reference Guide: Understanding the Payment Card Industry Data Security Standard version 3.2.1".  </a:t>
            </a:r>
            <a:r>
              <a:rPr lang="en-US" sz="1400" i="1">
                <a:solidFill>
                  <a:schemeClr val="tx1"/>
                </a:solidFill>
                <a:latin typeface="Calibri"/>
                <a:ea typeface="+mn-lt"/>
                <a:cs typeface="Calibri"/>
              </a:rPr>
              <a:t>PCI Security Standards Council.</a:t>
            </a:r>
            <a:r>
              <a:rPr lang="en-US" sz="1400">
                <a:solidFill>
                  <a:schemeClr val="tx1"/>
                </a:solidFill>
                <a:latin typeface="Calibri"/>
                <a:ea typeface="+mn-lt"/>
                <a:cs typeface="Calibri"/>
              </a:rPr>
              <a:t>  Site Accessed:  </a:t>
            </a:r>
            <a:r>
              <a:rPr lang="en-US" sz="1400">
                <a:solidFill>
                  <a:schemeClr val="tx1"/>
                </a:solidFill>
                <a:latin typeface="Calibri"/>
                <a:ea typeface="+mn-lt"/>
                <a:cs typeface="Calibri"/>
                <a:hlinkClick r:id="rId3">
                  <a:extLst>
                    <a:ext uri="{A12FA001-AC4F-418D-AE19-62706E023703}">
                      <ahyp:hlinkClr xmlns:ahyp="http://schemas.microsoft.com/office/drawing/2018/hyperlinkcolor" val="tx"/>
                    </a:ext>
                  </a:extLst>
                </a:hlinkClick>
              </a:rPr>
              <a:t>https://listings.pcisecuritystandards.org/documents/PCI_DSS-QRG-v3_2_1.pdf</a:t>
            </a:r>
          </a:p>
          <a:p>
            <a:pPr marL="457200" indent="-457200"/>
            <a:r>
              <a:rPr lang="en-US" sz="1400">
                <a:solidFill>
                  <a:schemeClr val="tx1"/>
                </a:solidFill>
                <a:latin typeface="Calibri"/>
                <a:ea typeface="+mn-lt"/>
                <a:cs typeface="+mn-lt"/>
              </a:rPr>
              <a:t>Van Dijk, V.  “20 NIST Control Families”  </a:t>
            </a:r>
            <a:r>
              <a:rPr lang="en-US" sz="1400" i="1">
                <a:solidFill>
                  <a:schemeClr val="tx1"/>
                </a:solidFill>
                <a:latin typeface="Calibri"/>
                <a:ea typeface="+mn-lt"/>
                <a:cs typeface="+mn-lt"/>
              </a:rPr>
              <a:t>Security Scientist.</a:t>
            </a:r>
            <a:r>
              <a:rPr lang="en-US" sz="1400">
                <a:solidFill>
                  <a:schemeClr val="tx1"/>
                </a:solidFill>
                <a:latin typeface="Calibri"/>
                <a:ea typeface="+mn-lt"/>
                <a:cs typeface="+mn-lt"/>
              </a:rPr>
              <a:t>  Date Accessed:  September 3, 2024.  Site Accessed:  </a:t>
            </a:r>
            <a:r>
              <a:rPr lang="en-US" sz="1400">
                <a:solidFill>
                  <a:schemeClr val="tx1"/>
                </a:solidFill>
                <a:latin typeface="Calibri"/>
                <a:ea typeface="+mn-lt"/>
                <a:cs typeface="+mn-lt"/>
                <a:hlinkClick r:id="rId4">
                  <a:extLst>
                    <a:ext uri="{A12FA001-AC4F-418D-AE19-62706E023703}">
                      <ahyp:hlinkClr xmlns:ahyp="http://schemas.microsoft.com/office/drawing/2018/hyperlinkcolor" val="tx"/>
                    </a:ext>
                  </a:extLst>
                </a:hlinkClick>
              </a:rPr>
              <a:t>https://www.securityscientist.net/blog/nist-sp-800-53-control-families/#control-family-1access-control</a:t>
            </a:r>
          </a:p>
          <a:p>
            <a:pPr marL="457200" indent="-457200" algn="l"/>
            <a:r>
              <a:rPr lang="en-US" sz="1400" b="0" i="1">
                <a:solidFill>
                  <a:srgbClr val="000000"/>
                </a:solidFill>
                <a:effectLst/>
                <a:latin typeface="Calibri" panose="020F0502020204030204" pitchFamily="34" charset="0"/>
              </a:rPr>
              <a:t>What Is SIEM? | Microsoft Security</a:t>
            </a:r>
            <a:r>
              <a:rPr lang="en-US" sz="1400" b="0" i="0">
                <a:solidFill>
                  <a:srgbClr val="000000"/>
                </a:solidFill>
                <a:effectLst/>
                <a:latin typeface="Calibri" panose="020F0502020204030204" pitchFamily="34" charset="0"/>
              </a:rPr>
              <a:t>. (2024). Microsoft.com. </a:t>
            </a:r>
            <a:r>
              <a:rPr lang="en-US" sz="1400" b="0" i="0">
                <a:solidFill>
                  <a:srgbClr val="000000"/>
                </a:solidFill>
                <a:effectLst/>
                <a:latin typeface="Calibri" panose="020F0502020204030204" pitchFamily="34" charset="0"/>
                <a:hlinkClick r:id="rId5"/>
              </a:rPr>
              <a:t>https://www.microsoft.com/en-us/security/business/security-101/what-is-siem?msockid=32c56ea62a6d6a7437e77c0b2b6a6b1b</a:t>
            </a:r>
            <a:r>
              <a:rPr lang="en-US" sz="1400" b="0" i="0">
                <a:solidFill>
                  <a:srgbClr val="000000"/>
                </a:solidFill>
                <a:effectLst/>
                <a:latin typeface="Calibri" panose="020F0502020204030204" pitchFamily="34" charset="0"/>
              </a:rPr>
              <a:t> </a:t>
            </a:r>
            <a:endParaRPr lang="en-US" sz="1400" b="0" i="0">
              <a:solidFill>
                <a:schemeClr val="tx1"/>
              </a:solidFill>
              <a:effectLst/>
              <a:latin typeface="Calibri"/>
              <a:ea typeface="+mn-lt"/>
              <a:cs typeface="+mn-lt"/>
              <a:hlinkClick r:id="rId4">
                <a:extLst>
                  <a:ext uri="{A12FA001-AC4F-418D-AE19-62706E023703}">
                    <ahyp:hlinkClr xmlns:ahyp="http://schemas.microsoft.com/office/drawing/2018/hyperlinkcolor" val="tx"/>
                  </a:ext>
                </a:extLst>
              </a:hlinkClick>
            </a:endParaRPr>
          </a:p>
          <a:p>
            <a:pPr marL="0" indent="0" algn="l">
              <a:buNone/>
            </a:pPr>
            <a:endParaRPr lang="en-US" sz="1400" b="0" i="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400">
              <a:solidFill>
                <a:schemeClr val="tx1"/>
              </a:solidFill>
              <a:latin typeface="Calibri" panose="020F0502020204030204" pitchFamily="34" charset="0"/>
              <a:ea typeface="Calibri"/>
              <a:cs typeface="Calibri" panose="020F0502020204030204" pitchFamily="34" charset="0"/>
            </a:endParaRPr>
          </a:p>
          <a:p>
            <a:endParaRPr lang="en-US" sz="1400">
              <a:solidFill>
                <a:schemeClr val="tx1"/>
              </a:solidFill>
              <a:latin typeface="Calibri"/>
              <a:ea typeface="Calibri"/>
              <a:cs typeface="Calibri"/>
            </a:endParaRPr>
          </a:p>
        </p:txBody>
      </p:sp>
      <p:sp>
        <p:nvSpPr>
          <p:cNvPr id="7" name="Slide Number Placeholder 6">
            <a:extLst>
              <a:ext uri="{FF2B5EF4-FFF2-40B4-BE49-F238E27FC236}">
                <a16:creationId xmlns:a16="http://schemas.microsoft.com/office/drawing/2014/main" id="{AD2C483C-24E6-901A-C680-4E4F6A186006}"/>
              </a:ext>
            </a:extLst>
          </p:cNvPr>
          <p:cNvSpPr>
            <a:spLocks noGrp="1"/>
          </p:cNvSpPr>
          <p:nvPr>
            <p:ph type="sldNum" sz="quarter" idx="12"/>
          </p:nvPr>
        </p:nvSpPr>
        <p:spPr/>
        <p:txBody>
          <a:bodyPr/>
          <a:lstStyle/>
          <a:p>
            <a:fld id="{4F9E8B95-D1A7-41C3-AE42-803D7923C3C7}" type="slidenum">
              <a:rPr lang="en-US" smtClean="0"/>
              <a:t>14</a:t>
            </a:fld>
            <a:endParaRPr lang="en-US"/>
          </a:p>
        </p:txBody>
      </p:sp>
    </p:spTree>
    <p:extLst>
      <p:ext uri="{BB962C8B-B14F-4D97-AF65-F5344CB8AC3E}">
        <p14:creationId xmlns:p14="http://schemas.microsoft.com/office/powerpoint/2010/main" val="9892171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40336c39-6961-4531-96d0-51c393c76b0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76BD56FC374734F96458E9574280627" ma:contentTypeVersion="8" ma:contentTypeDescription="Create a new document." ma:contentTypeScope="" ma:versionID="c37fc30ebf9b9fbe531211b2056e8040">
  <xsd:schema xmlns:xsd="http://www.w3.org/2001/XMLSchema" xmlns:xs="http://www.w3.org/2001/XMLSchema" xmlns:p="http://schemas.microsoft.com/office/2006/metadata/properties" xmlns:ns3="40336c39-6961-4531-96d0-51c393c76b06" xmlns:ns4="5802063e-bb7e-4139-b5bd-8d08891f0aeb" targetNamespace="http://schemas.microsoft.com/office/2006/metadata/properties" ma:root="true" ma:fieldsID="d3b89c8bde9b7e3dff73d20cb0e39ac8" ns3:_="" ns4:_="">
    <xsd:import namespace="40336c39-6961-4531-96d0-51c393c76b06"/>
    <xsd:import namespace="5802063e-bb7e-4139-b5bd-8d08891f0ae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336c39-6961-4531-96d0-51c393c76b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_activity" ma:index="15"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802063e-bb7e-4139-b5bd-8d08891f0ae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70BB20-FF17-4A28-9FFD-A610A427550A}">
  <ds:schemaRefs>
    <ds:schemaRef ds:uri="http://schemas.microsoft.com/sharepoint/v3/contenttype/forms"/>
  </ds:schemaRefs>
</ds:datastoreItem>
</file>

<file path=customXml/itemProps2.xml><?xml version="1.0" encoding="utf-8"?>
<ds:datastoreItem xmlns:ds="http://schemas.openxmlformats.org/officeDocument/2006/customXml" ds:itemID="{A43FF570-1C8B-4BEC-BA62-B60544FE57C9}">
  <ds:schemaRefs>
    <ds:schemaRef ds:uri="http://schemas.microsoft.com/office/2006/documentManagement/types"/>
    <ds:schemaRef ds:uri="http://www.w3.org/XML/1998/namespace"/>
    <ds:schemaRef ds:uri="5802063e-bb7e-4139-b5bd-8d08891f0aeb"/>
    <ds:schemaRef ds:uri="http://purl.org/dc/terms/"/>
    <ds:schemaRef ds:uri="http://purl.org/dc/dcmitype/"/>
    <ds:schemaRef ds:uri="http://purl.org/dc/elements/1.1/"/>
    <ds:schemaRef ds:uri="http://schemas.openxmlformats.org/package/2006/metadata/core-properties"/>
    <ds:schemaRef ds:uri="http://schemas.microsoft.com/office/2006/metadata/properties"/>
    <ds:schemaRef ds:uri="http://schemas.microsoft.com/office/infopath/2007/PartnerControls"/>
    <ds:schemaRef ds:uri="40336c39-6961-4531-96d0-51c393c76b06"/>
  </ds:schemaRefs>
</ds:datastoreItem>
</file>

<file path=customXml/itemProps3.xml><?xml version="1.0" encoding="utf-8"?>
<ds:datastoreItem xmlns:ds="http://schemas.openxmlformats.org/officeDocument/2006/customXml" ds:itemID="{B5341C28-265A-4343-BD10-A8562EF5663C}">
  <ds:schemaRefs>
    <ds:schemaRef ds:uri="40336c39-6961-4531-96d0-51c393c76b06"/>
    <ds:schemaRef ds:uri="5802063e-bb7e-4139-b5bd-8d08891f0aeb"/>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2</TotalTime>
  <Words>2972</Words>
  <Application>Microsoft Office PowerPoint</Application>
  <PresentationFormat>Widescreen</PresentationFormat>
  <Paragraphs>270</Paragraphs>
  <Slides>14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Calibri</vt:lpstr>
      <vt:lpstr>Times New Roman</vt:lpstr>
      <vt:lpstr>Trebuchet MS</vt:lpstr>
      <vt:lpstr>Wingdings 3</vt:lpstr>
      <vt:lpstr>Facet</vt:lpstr>
      <vt:lpstr>Network Security for Humana </vt:lpstr>
      <vt:lpstr>Agenda:</vt:lpstr>
      <vt:lpstr>About Humana</vt:lpstr>
      <vt:lpstr>Network Topology (Logical/Physical)</vt:lpstr>
      <vt:lpstr>WAN DIAGRAM</vt:lpstr>
      <vt:lpstr>Branch Network Diagram</vt:lpstr>
      <vt:lpstr>Compliance Requirements</vt:lpstr>
      <vt:lpstr>NIST Control Families Breakdown:</vt:lpstr>
      <vt:lpstr>Security Controls:</vt:lpstr>
      <vt:lpstr>Control Families and Mitigating Threats:</vt:lpstr>
      <vt:lpstr>Contingency Planning - Business Continuity:</vt:lpstr>
      <vt:lpstr>Using NIST Control Families to Manage Risks pt.1</vt:lpstr>
      <vt:lpstr>Using NIST Control Families to Manage Risks pt.2</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Humana Phase 1</dc:title>
  <dc:creator>Loren Angel Anderson</dc:creator>
  <cp:lastModifiedBy>Loren Angel Anderson</cp:lastModifiedBy>
  <cp:revision>2</cp:revision>
  <dcterms:created xsi:type="dcterms:W3CDTF">2024-09-05T22:26:21Z</dcterms:created>
  <dcterms:modified xsi:type="dcterms:W3CDTF">2024-11-10T21:22:11Z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0x010100B76BD56FC374734F96458E9574280627</vt:lpwstr>
  </property>
</Properties>
</file>